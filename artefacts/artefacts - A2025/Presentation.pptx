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8" r:id="rId1"/>
  </p:sldMasterIdLst>
  <p:sldIdLst>
    <p:sldId id="256" r:id="rId2"/>
    <p:sldId id="259" r:id="rId3"/>
    <p:sldId id="261" r:id="rId4"/>
    <p:sldId id="319" r:id="rId5"/>
    <p:sldId id="311" r:id="rId6"/>
    <p:sldId id="308" r:id="rId7"/>
    <p:sldId id="309" r:id="rId8"/>
    <p:sldId id="268" r:id="rId9"/>
    <p:sldId id="273" r:id="rId10"/>
    <p:sldId id="320" r:id="rId11"/>
    <p:sldId id="258" r:id="rId12"/>
    <p:sldId id="284" r:id="rId13"/>
    <p:sldId id="286" r:id="rId14"/>
    <p:sldId id="295" r:id="rId15"/>
    <p:sldId id="300" r:id="rId16"/>
    <p:sldId id="283" r:id="rId17"/>
    <p:sldId id="269" r:id="rId18"/>
    <p:sldId id="310" r:id="rId19"/>
    <p:sldId id="282" r:id="rId20"/>
    <p:sldId id="317" r:id="rId21"/>
    <p:sldId id="305" r:id="rId22"/>
    <p:sldId id="302" r:id="rId23"/>
    <p:sldId id="318" r:id="rId24"/>
    <p:sldId id="272" r:id="rId25"/>
    <p:sldId id="275" r:id="rId26"/>
    <p:sldId id="285" r:id="rId27"/>
    <p:sldId id="294" r:id="rId28"/>
    <p:sldId id="263" r:id="rId29"/>
    <p:sldId id="271" r:id="rId30"/>
    <p:sldId id="266" r:id="rId31"/>
    <p:sldId id="293" r:id="rId32"/>
    <p:sldId id="301" r:id="rId33"/>
    <p:sldId id="265" r:id="rId34"/>
    <p:sldId id="298" r:id="rId35"/>
    <p:sldId id="304" r:id="rId36"/>
    <p:sldId id="278" r:id="rId37"/>
    <p:sldId id="291" r:id="rId38"/>
    <p:sldId id="303" r:id="rId39"/>
    <p:sldId id="313" r:id="rId40"/>
    <p:sldId id="314" r:id="rId41"/>
    <p:sldId id="279" r:id="rId42"/>
    <p:sldId id="316" r:id="rId43"/>
    <p:sldId id="264" r:id="rId44"/>
    <p:sldId id="315" r:id="rId45"/>
    <p:sldId id="296" r:id="rId46"/>
    <p:sldId id="280" r:id="rId47"/>
    <p:sldId id="287" r:id="rId48"/>
    <p:sldId id="281" r:id="rId49"/>
    <p:sldId id="289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9D3BF-A859-801D-493C-391FF5EFD398}" v="3" dt="2025-12-15T22:18:33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BC39B7-6541-469D-AEBA-D1DD05EACE1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79C06B9-1A68-430C-8596-BD53468784FF}">
      <dgm:prSet/>
      <dgm:spPr/>
      <dgm:t>
        <a:bodyPr/>
        <a:lstStyle/>
        <a:p>
          <a:r>
            <a:rPr lang="fr-CA" noProof="0" err="1"/>
            <a:t>JLouvain</a:t>
          </a:r>
          <a:r>
            <a:rPr lang="fr-CA" noProof="0"/>
            <a:t> O(</a:t>
          </a:r>
          <a:r>
            <a:rPr lang="fr-CA" noProof="0" err="1"/>
            <a:t>nlogn</a:t>
          </a:r>
          <a:r>
            <a:rPr lang="fr-CA" noProof="0"/>
            <a:t>)</a:t>
          </a:r>
        </a:p>
      </dgm:t>
    </dgm:pt>
    <dgm:pt modelId="{7499802A-CD29-4F78-BBA5-951510A93E27}" type="parTrans" cxnId="{18A2B0ED-30D8-4609-9B0B-C7C4EB28BB89}">
      <dgm:prSet/>
      <dgm:spPr/>
      <dgm:t>
        <a:bodyPr/>
        <a:lstStyle/>
        <a:p>
          <a:endParaRPr lang="en-US"/>
        </a:p>
      </dgm:t>
    </dgm:pt>
    <dgm:pt modelId="{752D54D1-F886-43B5-AE4C-B0F1C909968A}" type="sibTrans" cxnId="{18A2B0ED-30D8-4609-9B0B-C7C4EB28BB89}">
      <dgm:prSet/>
      <dgm:spPr/>
      <dgm:t>
        <a:bodyPr/>
        <a:lstStyle/>
        <a:p>
          <a:endParaRPr lang="en-US"/>
        </a:p>
      </dgm:t>
    </dgm:pt>
    <dgm:pt modelId="{6AFE7CFA-DECA-48EA-ACFB-33EBF0AB33E7}">
      <dgm:prSet/>
      <dgm:spPr/>
      <dgm:t>
        <a:bodyPr/>
        <a:lstStyle/>
        <a:p>
          <a:r>
            <a:rPr lang="fr-CA" noProof="0"/>
            <a:t>N = </a:t>
          </a:r>
          <a:r>
            <a:rPr lang="fr-CA" noProof="0">
              <a:latin typeface="Trebuchet MS" panose="020B0603020202020204"/>
            </a:rPr>
            <a:t>Noeud</a:t>
          </a:r>
          <a:endParaRPr lang="fr-CA" noProof="0"/>
        </a:p>
      </dgm:t>
    </dgm:pt>
    <dgm:pt modelId="{2FC9AEB5-CB61-4231-A718-A441421FC619}" type="parTrans" cxnId="{CAB16EC7-7754-4EE6-8248-970E8E755050}">
      <dgm:prSet/>
      <dgm:spPr/>
      <dgm:t>
        <a:bodyPr/>
        <a:lstStyle/>
        <a:p>
          <a:endParaRPr lang="en-US"/>
        </a:p>
      </dgm:t>
    </dgm:pt>
    <dgm:pt modelId="{F6CEBA9C-4653-4F3D-8AFA-2A2733A08FF2}" type="sibTrans" cxnId="{CAB16EC7-7754-4EE6-8248-970E8E755050}">
      <dgm:prSet/>
      <dgm:spPr/>
      <dgm:t>
        <a:bodyPr/>
        <a:lstStyle/>
        <a:p>
          <a:endParaRPr lang="en-US"/>
        </a:p>
      </dgm:t>
    </dgm:pt>
    <dgm:pt modelId="{31105F16-0843-4B25-BE55-96650E76D613}">
      <dgm:prSet/>
      <dgm:spPr/>
      <dgm:t>
        <a:bodyPr/>
        <a:lstStyle/>
        <a:p>
          <a:r>
            <a:rPr lang="fr-CA" noProof="0"/>
            <a:t>Mieux pour des gros </a:t>
          </a:r>
          <a:r>
            <a:rPr lang="fr-CA" noProof="0" err="1"/>
            <a:t>datasets</a:t>
          </a:r>
          <a:endParaRPr lang="fr-CA" noProof="0"/>
        </a:p>
      </dgm:t>
    </dgm:pt>
    <dgm:pt modelId="{96AB890A-8BD6-4753-B6D9-813BDB6F8AF0}" type="parTrans" cxnId="{1A1AE420-E89C-4662-8C17-B928DC1EFC12}">
      <dgm:prSet/>
      <dgm:spPr/>
      <dgm:t>
        <a:bodyPr/>
        <a:lstStyle/>
        <a:p>
          <a:endParaRPr lang="en-US"/>
        </a:p>
      </dgm:t>
    </dgm:pt>
    <dgm:pt modelId="{8214872A-67CD-4E73-A614-2E75BAD93457}" type="sibTrans" cxnId="{1A1AE420-E89C-4662-8C17-B928DC1EFC12}">
      <dgm:prSet/>
      <dgm:spPr/>
      <dgm:t>
        <a:bodyPr/>
        <a:lstStyle/>
        <a:p>
          <a:endParaRPr lang="en-US"/>
        </a:p>
      </dgm:t>
    </dgm:pt>
    <dgm:pt modelId="{85BAD2D1-3961-4393-BB82-F0FB1D43B67E}">
      <dgm:prSet/>
      <dgm:spPr/>
      <dgm:t>
        <a:bodyPr/>
        <a:lstStyle/>
        <a:p>
          <a:r>
            <a:rPr lang="fr-CA" noProof="0"/>
            <a:t>Girvan Newman O(m²n)</a:t>
          </a:r>
        </a:p>
      </dgm:t>
    </dgm:pt>
    <dgm:pt modelId="{EC18B845-B1B0-4017-8E25-703C6A140B20}" type="parTrans" cxnId="{BB2D5614-FEC6-4B25-8B5E-49E773FB2C01}">
      <dgm:prSet/>
      <dgm:spPr/>
      <dgm:t>
        <a:bodyPr/>
        <a:lstStyle/>
        <a:p>
          <a:endParaRPr lang="en-US"/>
        </a:p>
      </dgm:t>
    </dgm:pt>
    <dgm:pt modelId="{09F5E7B1-F982-4AB2-BE16-415334514B06}" type="sibTrans" cxnId="{BB2D5614-FEC6-4B25-8B5E-49E773FB2C01}">
      <dgm:prSet/>
      <dgm:spPr/>
      <dgm:t>
        <a:bodyPr/>
        <a:lstStyle/>
        <a:p>
          <a:endParaRPr lang="en-US"/>
        </a:p>
      </dgm:t>
    </dgm:pt>
    <dgm:pt modelId="{FECED06E-AC03-4697-8C41-BE54E0AFAF78}">
      <dgm:prSet/>
      <dgm:spPr/>
      <dgm:t>
        <a:bodyPr/>
        <a:lstStyle/>
        <a:p>
          <a:pPr rtl="0"/>
          <a:r>
            <a:rPr lang="fr-CA" noProof="0"/>
            <a:t>M = </a:t>
          </a:r>
          <a:r>
            <a:rPr lang="fr-CA" noProof="0">
              <a:latin typeface="Trebuchet MS" panose="020B0603020202020204"/>
            </a:rPr>
            <a:t>Lien entre noeud</a:t>
          </a:r>
          <a:endParaRPr lang="fr-CA" noProof="0"/>
        </a:p>
      </dgm:t>
    </dgm:pt>
    <dgm:pt modelId="{EB2A3A3A-3D21-47EC-A298-075C4CDF98FC}" type="parTrans" cxnId="{07B89229-EC0B-4041-B652-9EEFC7955F15}">
      <dgm:prSet/>
      <dgm:spPr/>
      <dgm:t>
        <a:bodyPr/>
        <a:lstStyle/>
        <a:p>
          <a:endParaRPr lang="en-US"/>
        </a:p>
      </dgm:t>
    </dgm:pt>
    <dgm:pt modelId="{67A32798-78B2-4EFE-8C88-B8E9619D643C}" type="sibTrans" cxnId="{07B89229-EC0B-4041-B652-9EEFC7955F15}">
      <dgm:prSet/>
      <dgm:spPr/>
      <dgm:t>
        <a:bodyPr/>
        <a:lstStyle/>
        <a:p>
          <a:endParaRPr lang="en-US"/>
        </a:p>
      </dgm:t>
    </dgm:pt>
    <dgm:pt modelId="{C164F404-1599-43E0-841E-CC8996265567}">
      <dgm:prSet/>
      <dgm:spPr/>
      <dgm:t>
        <a:bodyPr/>
        <a:lstStyle/>
        <a:p>
          <a:r>
            <a:rPr lang="fr-CA" noProof="0"/>
            <a:t>N = </a:t>
          </a:r>
          <a:r>
            <a:rPr lang="fr-CA" noProof="0">
              <a:latin typeface="Trebuchet MS" panose="020B0603020202020204"/>
            </a:rPr>
            <a:t>Noeud</a:t>
          </a:r>
          <a:endParaRPr lang="fr-CA" noProof="0"/>
        </a:p>
      </dgm:t>
    </dgm:pt>
    <dgm:pt modelId="{B34BC711-8121-4113-AD87-1CC259B7F2F3}" type="parTrans" cxnId="{FF026719-20F2-4BB0-982C-434801F33D7B}">
      <dgm:prSet/>
      <dgm:spPr/>
      <dgm:t>
        <a:bodyPr/>
        <a:lstStyle/>
        <a:p>
          <a:endParaRPr lang="en-US"/>
        </a:p>
      </dgm:t>
    </dgm:pt>
    <dgm:pt modelId="{4BC71172-5EA5-42CC-BFB8-51A8825A073C}" type="sibTrans" cxnId="{FF026719-20F2-4BB0-982C-434801F33D7B}">
      <dgm:prSet/>
      <dgm:spPr/>
      <dgm:t>
        <a:bodyPr/>
        <a:lstStyle/>
        <a:p>
          <a:endParaRPr lang="en-US"/>
        </a:p>
      </dgm:t>
    </dgm:pt>
    <dgm:pt modelId="{C807209A-A0E1-4B88-9483-C27780BE0E49}">
      <dgm:prSet/>
      <dgm:spPr/>
      <dgm:t>
        <a:bodyPr/>
        <a:lstStyle/>
        <a:p>
          <a:r>
            <a:rPr lang="en-CA" noProof="0"/>
            <a:t>Pas de taille de </a:t>
          </a:r>
          <a:r>
            <a:rPr lang="en-CA" noProof="0" err="1"/>
            <a:t>groupe</a:t>
          </a:r>
          <a:r>
            <a:rPr lang="en-CA" noProof="0"/>
            <a:t> fixe</a:t>
          </a:r>
          <a:endParaRPr lang="fr-CA" noProof="0"/>
        </a:p>
      </dgm:t>
    </dgm:pt>
    <dgm:pt modelId="{F9C1CFC7-C19E-4665-A4A0-F43F7F9AB671}" type="parTrans" cxnId="{BF93685A-039D-4E1A-8361-04A6B00F5F61}">
      <dgm:prSet/>
      <dgm:spPr/>
    </dgm:pt>
    <dgm:pt modelId="{5422E238-16F6-4321-9202-2B3BF81958F8}" type="sibTrans" cxnId="{BF93685A-039D-4E1A-8361-04A6B00F5F61}">
      <dgm:prSet/>
      <dgm:spPr/>
    </dgm:pt>
    <dgm:pt modelId="{2D4B97FB-3EDF-4D8C-A46C-DD25E69E741F}" type="pres">
      <dgm:prSet presAssocID="{D5BC39B7-6541-469D-AEBA-D1DD05EACE18}" presName="Name0" presStyleCnt="0">
        <dgm:presLayoutVars>
          <dgm:dir/>
          <dgm:animLvl val="lvl"/>
          <dgm:resizeHandles val="exact"/>
        </dgm:presLayoutVars>
      </dgm:prSet>
      <dgm:spPr/>
    </dgm:pt>
    <dgm:pt modelId="{A42CC37E-9DB9-4706-8E58-0BA214A77D45}" type="pres">
      <dgm:prSet presAssocID="{679C06B9-1A68-430C-8596-BD53468784FF}" presName="linNode" presStyleCnt="0"/>
      <dgm:spPr/>
    </dgm:pt>
    <dgm:pt modelId="{82C7A37F-CB35-4E11-BF77-A103F5A57DED}" type="pres">
      <dgm:prSet presAssocID="{679C06B9-1A68-430C-8596-BD53468784F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D805CF9-46CB-41CA-876B-C6D4857D03DF}" type="pres">
      <dgm:prSet presAssocID="{679C06B9-1A68-430C-8596-BD53468784FF}" presName="descendantText" presStyleLbl="alignAccFollowNode1" presStyleIdx="0" presStyleCnt="2">
        <dgm:presLayoutVars>
          <dgm:bulletEnabled val="1"/>
        </dgm:presLayoutVars>
      </dgm:prSet>
      <dgm:spPr/>
    </dgm:pt>
    <dgm:pt modelId="{70CD3971-030A-498F-B146-960517D9C52C}" type="pres">
      <dgm:prSet presAssocID="{752D54D1-F886-43B5-AE4C-B0F1C909968A}" presName="sp" presStyleCnt="0"/>
      <dgm:spPr/>
    </dgm:pt>
    <dgm:pt modelId="{B2892AAE-17EA-4BED-AD6B-A68732B3CA96}" type="pres">
      <dgm:prSet presAssocID="{85BAD2D1-3961-4393-BB82-F0FB1D43B67E}" presName="linNode" presStyleCnt="0"/>
      <dgm:spPr/>
    </dgm:pt>
    <dgm:pt modelId="{72AA04D7-59C8-47BA-A8C1-C10E0E6D52E8}" type="pres">
      <dgm:prSet presAssocID="{85BAD2D1-3961-4393-BB82-F0FB1D43B67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6DD5162-5B95-44F3-B3A9-37D8FC181A62}" type="pres">
      <dgm:prSet presAssocID="{85BAD2D1-3961-4393-BB82-F0FB1D43B67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5E17D0E-C10C-46A7-8E6D-A0B640BB3FDF}" type="presOf" srcId="{FECED06E-AC03-4697-8C41-BE54E0AFAF78}" destId="{A6DD5162-5B95-44F3-B3A9-37D8FC181A62}" srcOrd="0" destOrd="0" presId="urn:microsoft.com/office/officeart/2005/8/layout/vList5"/>
    <dgm:cxn modelId="{BB2D5614-FEC6-4B25-8B5E-49E773FB2C01}" srcId="{D5BC39B7-6541-469D-AEBA-D1DD05EACE18}" destId="{85BAD2D1-3961-4393-BB82-F0FB1D43B67E}" srcOrd="1" destOrd="0" parTransId="{EC18B845-B1B0-4017-8E25-703C6A140B20}" sibTransId="{09F5E7B1-F982-4AB2-BE16-415334514B06}"/>
    <dgm:cxn modelId="{FF026719-20F2-4BB0-982C-434801F33D7B}" srcId="{85BAD2D1-3961-4393-BB82-F0FB1D43B67E}" destId="{C164F404-1599-43E0-841E-CC8996265567}" srcOrd="1" destOrd="0" parTransId="{B34BC711-8121-4113-AD87-1CC259B7F2F3}" sibTransId="{4BC71172-5EA5-42CC-BFB8-51A8825A073C}"/>
    <dgm:cxn modelId="{1A1AE420-E89C-4662-8C17-B928DC1EFC12}" srcId="{679C06B9-1A68-430C-8596-BD53468784FF}" destId="{31105F16-0843-4B25-BE55-96650E76D613}" srcOrd="1" destOrd="0" parTransId="{96AB890A-8BD6-4753-B6D9-813BDB6F8AF0}" sibTransId="{8214872A-67CD-4E73-A614-2E75BAD93457}"/>
    <dgm:cxn modelId="{0A879D21-76E1-445C-BB19-3E642C658E3B}" type="presOf" srcId="{C807209A-A0E1-4B88-9483-C27780BE0E49}" destId="{4D805CF9-46CB-41CA-876B-C6D4857D03DF}" srcOrd="0" destOrd="2" presId="urn:microsoft.com/office/officeart/2005/8/layout/vList5"/>
    <dgm:cxn modelId="{07B89229-EC0B-4041-B652-9EEFC7955F15}" srcId="{85BAD2D1-3961-4393-BB82-F0FB1D43B67E}" destId="{FECED06E-AC03-4697-8C41-BE54E0AFAF78}" srcOrd="0" destOrd="0" parTransId="{EB2A3A3A-3D21-47EC-A298-075C4CDF98FC}" sibTransId="{67A32798-78B2-4EFE-8C88-B8E9619D643C}"/>
    <dgm:cxn modelId="{BF93685A-039D-4E1A-8361-04A6B00F5F61}" srcId="{679C06B9-1A68-430C-8596-BD53468784FF}" destId="{C807209A-A0E1-4B88-9483-C27780BE0E49}" srcOrd="2" destOrd="0" parTransId="{F9C1CFC7-C19E-4665-A4A0-F43F7F9AB671}" sibTransId="{5422E238-16F6-4321-9202-2B3BF81958F8}"/>
    <dgm:cxn modelId="{D8B27D81-E746-4586-AE9B-F836EC790A38}" type="presOf" srcId="{31105F16-0843-4B25-BE55-96650E76D613}" destId="{4D805CF9-46CB-41CA-876B-C6D4857D03DF}" srcOrd="0" destOrd="1" presId="urn:microsoft.com/office/officeart/2005/8/layout/vList5"/>
    <dgm:cxn modelId="{262F22A4-2E65-4DB3-B75B-E6DD48D550DD}" type="presOf" srcId="{6AFE7CFA-DECA-48EA-ACFB-33EBF0AB33E7}" destId="{4D805CF9-46CB-41CA-876B-C6D4857D03DF}" srcOrd="0" destOrd="0" presId="urn:microsoft.com/office/officeart/2005/8/layout/vList5"/>
    <dgm:cxn modelId="{88461BBF-CB2A-4747-8A2B-504E8A49EC0B}" type="presOf" srcId="{679C06B9-1A68-430C-8596-BD53468784FF}" destId="{82C7A37F-CB35-4E11-BF77-A103F5A57DED}" srcOrd="0" destOrd="0" presId="urn:microsoft.com/office/officeart/2005/8/layout/vList5"/>
    <dgm:cxn modelId="{CAB16EC7-7754-4EE6-8248-970E8E755050}" srcId="{679C06B9-1A68-430C-8596-BD53468784FF}" destId="{6AFE7CFA-DECA-48EA-ACFB-33EBF0AB33E7}" srcOrd="0" destOrd="0" parTransId="{2FC9AEB5-CB61-4231-A718-A441421FC619}" sibTransId="{F6CEBA9C-4653-4F3D-8AFA-2A2733A08FF2}"/>
    <dgm:cxn modelId="{6968ADDC-D0B8-415B-8315-DC2650483D03}" type="presOf" srcId="{D5BC39B7-6541-469D-AEBA-D1DD05EACE18}" destId="{2D4B97FB-3EDF-4D8C-A46C-DD25E69E741F}" srcOrd="0" destOrd="0" presId="urn:microsoft.com/office/officeart/2005/8/layout/vList5"/>
    <dgm:cxn modelId="{528AFAEB-D7D4-4008-A543-7DA099D42871}" type="presOf" srcId="{85BAD2D1-3961-4393-BB82-F0FB1D43B67E}" destId="{72AA04D7-59C8-47BA-A8C1-C10E0E6D52E8}" srcOrd="0" destOrd="0" presId="urn:microsoft.com/office/officeart/2005/8/layout/vList5"/>
    <dgm:cxn modelId="{18A2B0ED-30D8-4609-9B0B-C7C4EB28BB89}" srcId="{D5BC39B7-6541-469D-AEBA-D1DD05EACE18}" destId="{679C06B9-1A68-430C-8596-BD53468784FF}" srcOrd="0" destOrd="0" parTransId="{7499802A-CD29-4F78-BBA5-951510A93E27}" sibTransId="{752D54D1-F886-43B5-AE4C-B0F1C909968A}"/>
    <dgm:cxn modelId="{1EDBFCFB-4A5F-41EB-B45A-50BD670ECDEE}" type="presOf" srcId="{C164F404-1599-43E0-841E-CC8996265567}" destId="{A6DD5162-5B95-44F3-B3A9-37D8FC181A62}" srcOrd="0" destOrd="1" presId="urn:microsoft.com/office/officeart/2005/8/layout/vList5"/>
    <dgm:cxn modelId="{DFCCF1DF-1F96-499A-861A-FF7BEEC08C19}" type="presParOf" srcId="{2D4B97FB-3EDF-4D8C-A46C-DD25E69E741F}" destId="{A42CC37E-9DB9-4706-8E58-0BA214A77D45}" srcOrd="0" destOrd="0" presId="urn:microsoft.com/office/officeart/2005/8/layout/vList5"/>
    <dgm:cxn modelId="{12E711FC-C863-46F0-B36E-05695BC2FA41}" type="presParOf" srcId="{A42CC37E-9DB9-4706-8E58-0BA214A77D45}" destId="{82C7A37F-CB35-4E11-BF77-A103F5A57DED}" srcOrd="0" destOrd="0" presId="urn:microsoft.com/office/officeart/2005/8/layout/vList5"/>
    <dgm:cxn modelId="{FACD981D-4769-4E07-91D1-67F928D82CC6}" type="presParOf" srcId="{A42CC37E-9DB9-4706-8E58-0BA214A77D45}" destId="{4D805CF9-46CB-41CA-876B-C6D4857D03DF}" srcOrd="1" destOrd="0" presId="urn:microsoft.com/office/officeart/2005/8/layout/vList5"/>
    <dgm:cxn modelId="{D430E739-5094-4D1B-83AB-223EBEF97E7C}" type="presParOf" srcId="{2D4B97FB-3EDF-4D8C-A46C-DD25E69E741F}" destId="{70CD3971-030A-498F-B146-960517D9C52C}" srcOrd="1" destOrd="0" presId="urn:microsoft.com/office/officeart/2005/8/layout/vList5"/>
    <dgm:cxn modelId="{5D99065A-AD73-4E4E-A0AA-9DD9FD64AB2C}" type="presParOf" srcId="{2D4B97FB-3EDF-4D8C-A46C-DD25E69E741F}" destId="{B2892AAE-17EA-4BED-AD6B-A68732B3CA96}" srcOrd="2" destOrd="0" presId="urn:microsoft.com/office/officeart/2005/8/layout/vList5"/>
    <dgm:cxn modelId="{A69FF751-08CD-43EB-88EC-43DE2D0FCBA3}" type="presParOf" srcId="{B2892AAE-17EA-4BED-AD6B-A68732B3CA96}" destId="{72AA04D7-59C8-47BA-A8C1-C10E0E6D52E8}" srcOrd="0" destOrd="0" presId="urn:microsoft.com/office/officeart/2005/8/layout/vList5"/>
    <dgm:cxn modelId="{235F58DF-1799-4CBD-B6E1-352A5AF3E750}" type="presParOf" srcId="{B2892AAE-17EA-4BED-AD6B-A68732B3CA96}" destId="{A6DD5162-5B95-44F3-B3A9-37D8FC181A6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805CF9-46CB-41CA-876B-C6D4857D03DF}">
      <dsp:nvSpPr>
        <dsp:cNvPr id="0" name=""/>
        <dsp:cNvSpPr/>
      </dsp:nvSpPr>
      <dsp:spPr>
        <a:xfrm rot="5400000">
          <a:off x="5741621" y="-2079366"/>
          <a:ext cx="1597417" cy="6155605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000" kern="1200" noProof="0"/>
            <a:t>N = </a:t>
          </a:r>
          <a:r>
            <a:rPr lang="fr-CA" sz="3000" kern="1200" noProof="0">
              <a:latin typeface="Trebuchet MS" panose="020B0603020202020204"/>
            </a:rPr>
            <a:t>Noeud</a:t>
          </a:r>
          <a:endParaRPr lang="fr-CA" sz="3000" kern="1200" noProof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000" kern="1200" noProof="0"/>
            <a:t>Mieux pour des gros </a:t>
          </a:r>
          <a:r>
            <a:rPr lang="fr-CA" sz="3000" kern="1200" noProof="0" err="1"/>
            <a:t>datasets</a:t>
          </a:r>
          <a:endParaRPr lang="fr-CA" sz="3000" kern="1200" noProof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000" kern="1200" noProof="0"/>
            <a:t>Pas de taille de </a:t>
          </a:r>
          <a:r>
            <a:rPr lang="en-CA" sz="3000" kern="1200" noProof="0" err="1"/>
            <a:t>groupe</a:t>
          </a:r>
          <a:r>
            <a:rPr lang="en-CA" sz="3000" kern="1200" noProof="0"/>
            <a:t> fixe</a:t>
          </a:r>
          <a:endParaRPr lang="fr-CA" sz="3000" kern="1200" noProof="0"/>
        </a:p>
      </dsp:txBody>
      <dsp:txXfrm rot="-5400000">
        <a:off x="3462528" y="277706"/>
        <a:ext cx="6077626" cy="1441459"/>
      </dsp:txXfrm>
    </dsp:sp>
    <dsp:sp modelId="{82C7A37F-CB35-4E11-BF77-A103F5A57DED}">
      <dsp:nvSpPr>
        <dsp:cNvPr id="0" name=""/>
        <dsp:cNvSpPr/>
      </dsp:nvSpPr>
      <dsp:spPr>
        <a:xfrm>
          <a:off x="0" y="49"/>
          <a:ext cx="3462527" cy="19967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noProof="0" err="1"/>
            <a:t>JLouvain</a:t>
          </a:r>
          <a:r>
            <a:rPr lang="fr-CA" sz="2800" kern="1200" noProof="0"/>
            <a:t> O(</a:t>
          </a:r>
          <a:r>
            <a:rPr lang="fr-CA" sz="2800" kern="1200" noProof="0" err="1"/>
            <a:t>nlogn</a:t>
          </a:r>
          <a:r>
            <a:rPr lang="fr-CA" sz="2800" kern="1200" noProof="0"/>
            <a:t>)</a:t>
          </a:r>
        </a:p>
      </dsp:txBody>
      <dsp:txXfrm>
        <a:off x="97474" y="97523"/>
        <a:ext cx="3267579" cy="1801823"/>
      </dsp:txXfrm>
    </dsp:sp>
    <dsp:sp modelId="{A6DD5162-5B95-44F3-B3A9-37D8FC181A62}">
      <dsp:nvSpPr>
        <dsp:cNvPr id="0" name=""/>
        <dsp:cNvSpPr/>
      </dsp:nvSpPr>
      <dsp:spPr>
        <a:xfrm rot="5400000">
          <a:off x="5741621" y="17243"/>
          <a:ext cx="1597417" cy="6155605"/>
        </a:xfrm>
        <a:prstGeom prst="round2SameRect">
          <a:avLst/>
        </a:prstGeom>
        <a:solidFill>
          <a:schemeClr val="accent2">
            <a:tint val="40000"/>
            <a:alpha val="90000"/>
            <a:hueOff val="-3741368"/>
            <a:satOff val="7526"/>
            <a:lumOff val="114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741368"/>
              <a:satOff val="7526"/>
              <a:lumOff val="1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000" kern="1200" noProof="0"/>
            <a:t>M = </a:t>
          </a:r>
          <a:r>
            <a:rPr lang="fr-CA" sz="3000" kern="1200" noProof="0">
              <a:latin typeface="Trebuchet MS" panose="020B0603020202020204"/>
            </a:rPr>
            <a:t>Lien entre noeud</a:t>
          </a:r>
          <a:endParaRPr lang="fr-CA" sz="3000" kern="1200" noProof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000" kern="1200" noProof="0"/>
            <a:t>N = </a:t>
          </a:r>
          <a:r>
            <a:rPr lang="fr-CA" sz="3000" kern="1200" noProof="0">
              <a:latin typeface="Trebuchet MS" panose="020B0603020202020204"/>
            </a:rPr>
            <a:t>Noeud</a:t>
          </a:r>
          <a:endParaRPr lang="fr-CA" sz="3000" kern="1200" noProof="0"/>
        </a:p>
      </dsp:txBody>
      <dsp:txXfrm rot="-5400000">
        <a:off x="3462528" y="2374316"/>
        <a:ext cx="6077626" cy="1441459"/>
      </dsp:txXfrm>
    </dsp:sp>
    <dsp:sp modelId="{72AA04D7-59C8-47BA-A8C1-C10E0E6D52E8}">
      <dsp:nvSpPr>
        <dsp:cNvPr id="0" name=""/>
        <dsp:cNvSpPr/>
      </dsp:nvSpPr>
      <dsp:spPr>
        <a:xfrm>
          <a:off x="0" y="2096660"/>
          <a:ext cx="3462527" cy="1996771"/>
        </a:xfrm>
        <a:prstGeom prst="roundRect">
          <a:avLst/>
        </a:prstGeom>
        <a:solidFill>
          <a:schemeClr val="accent2">
            <a:hueOff val="-2712450"/>
            <a:satOff val="-1656"/>
            <a:lumOff val="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noProof="0"/>
            <a:t>Girvan Newman O(m²n)</a:t>
          </a:r>
        </a:p>
      </dsp:txBody>
      <dsp:txXfrm>
        <a:off x="97474" y="2194134"/>
        <a:ext cx="3267579" cy="1801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9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1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7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6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4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8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9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2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5812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51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6779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86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32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3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2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9" r:id="rId1"/>
    <p:sldLayoutId id="2147484390" r:id="rId2"/>
    <p:sldLayoutId id="2147484391" r:id="rId3"/>
    <p:sldLayoutId id="2147484392" r:id="rId4"/>
    <p:sldLayoutId id="2147484393" r:id="rId5"/>
    <p:sldLayoutId id="2147484394" r:id="rId6"/>
    <p:sldLayoutId id="2147484395" r:id="rId7"/>
    <p:sldLayoutId id="2147484396" r:id="rId8"/>
    <p:sldLayoutId id="2147484397" r:id="rId9"/>
    <p:sldLayoutId id="2147484398" r:id="rId10"/>
    <p:sldLayoutId id="2147484399" r:id="rId11"/>
    <p:sldLayoutId id="2147484400" r:id="rId12"/>
    <p:sldLayoutId id="2147484401" r:id="rId13"/>
    <p:sldLayoutId id="2147484402" r:id="rId14"/>
    <p:sldLayoutId id="2147484403" r:id="rId15"/>
    <p:sldLayoutId id="214748440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mgraph.github.io/networkx-guide/algorithms/community-detection/girvan-newman/" TargetMode="External"/><Relationship Id="rId4" Type="http://schemas.openxmlformats.org/officeDocument/2006/relationships/hyperlink" Target="https://www.nature.com/articles/s41598-019-41695-z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upphiminn/jLouv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3F96-27FB-6823-6661-11417AB1E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892174"/>
            <a:ext cx="7766936" cy="2158662"/>
          </a:xfrm>
        </p:spPr>
        <p:txBody>
          <a:bodyPr/>
          <a:lstStyle/>
          <a:p>
            <a:pPr algn="ctr"/>
            <a:r>
              <a:rPr lang="fr-CA" sz="4000" b="1" noProof="0">
                <a:ea typeface="Calibri Light"/>
                <a:cs typeface="Calibri Light"/>
              </a:rPr>
              <a:t>PFE019</a:t>
            </a:r>
            <a:r>
              <a:rPr lang="fr-CA" sz="4000" noProof="0">
                <a:ea typeface="Calibri Light"/>
                <a:cs typeface="Calibri Light"/>
              </a:rPr>
              <a:t> - </a:t>
            </a:r>
            <a:r>
              <a:rPr lang="fr-CA" sz="4000" b="1" noProof="0"/>
              <a:t>Visualisation interactive de l’évolution du code des logiciels sur GitHub</a:t>
            </a:r>
            <a:r>
              <a:rPr lang="fr-CA" sz="4000" noProof="0"/>
              <a:t>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B24FA-C37A-7C6B-6234-E58352C88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793736"/>
            <a:ext cx="4832591" cy="167104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CA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E3992-9569-DFA4-B1BC-81A29C24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C74D2-C8D1-942E-18D9-1914C58A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E91CC32-6A6B-4E2E-BBA1-6864F305DA26}" type="slidenum">
              <a:rPr lang="fr-CA" noProof="0" smtClean="0"/>
              <a:t>1</a:t>
            </a:fld>
            <a:endParaRPr lang="fr-CA" noProof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3BA6EE-4EC2-FD3A-D4B4-D25852F7EEF9}"/>
              </a:ext>
            </a:extLst>
          </p:cNvPr>
          <p:cNvSpPr txBox="1">
            <a:spLocks/>
          </p:cNvSpPr>
          <p:nvPr/>
        </p:nvSpPr>
        <p:spPr>
          <a:xfrm>
            <a:off x="6096110" y="4795109"/>
            <a:ext cx="4832591" cy="16710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noProof="0" dirty="0"/>
              <a:t>Vincent Fleury</a:t>
            </a:r>
            <a:br>
              <a:rPr lang="fr-CA" noProof="0" dirty="0"/>
            </a:br>
            <a:r>
              <a:rPr lang="fr-CA" noProof="0" dirty="0"/>
              <a:t>Ulysse Corbeil</a:t>
            </a:r>
            <a:br>
              <a:rPr lang="fr-CA" noProof="0" dirty="0"/>
            </a:br>
            <a:r>
              <a:rPr lang="fr-CA" dirty="0"/>
              <a:t>Nicolas</a:t>
            </a:r>
            <a:r>
              <a:rPr lang="fr-CA" noProof="0" dirty="0"/>
              <a:t> Paquette </a:t>
            </a:r>
            <a:br>
              <a:rPr lang="fr-CA" noProof="0" dirty="0"/>
            </a:br>
            <a:r>
              <a:rPr lang="fr-CA" noProof="0" dirty="0" err="1"/>
              <a:t>Maxym</a:t>
            </a:r>
            <a:r>
              <a:rPr lang="fr-CA" noProof="0" dirty="0"/>
              <a:t> Bonnette</a:t>
            </a:r>
          </a:p>
        </p:txBody>
      </p:sp>
    </p:spTree>
    <p:extLst>
      <p:ext uri="{BB962C8B-B14F-4D97-AF65-F5344CB8AC3E}">
        <p14:creationId xmlns:p14="http://schemas.microsoft.com/office/powerpoint/2010/main" val="2601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23C5-E55A-B90C-F385-15D4E085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297B-86E2-DE98-996E-40CB98BE1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CA" noProof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620DD-F6E3-7A74-9210-FEEC005E4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67478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6311-C6C5-E938-DA1C-94DF41E0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Problématique initiale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A408-1621-A717-A3B5-B54ACE53B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sz="2000" noProof="0"/>
              <a:t>Développement collaboratif sur </a:t>
            </a:r>
            <a:r>
              <a:rPr lang="fr-CA" sz="2000" b="1" noProof="0"/>
              <a:t>Git </a:t>
            </a:r>
            <a:r>
              <a:rPr lang="fr-CA" sz="2000" noProof="0"/>
              <a:t>entraîne complexité d'interconnexion des contributeurs</a:t>
            </a:r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 noProof="0"/>
              <a:t>Évolution générale du code difficile à suivre plus le projet est grand</a:t>
            </a:r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 noProof="0"/>
              <a:t>Graphes simples de commit ou statistiques de contribution </a:t>
            </a:r>
            <a:r>
              <a:rPr lang="fr-CA" sz="2000" b="1" noProof="0"/>
              <a:t>insuffisantes</a:t>
            </a:r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 noProof="0"/>
              <a:t>Solution existante: </a:t>
            </a:r>
            <a:r>
              <a:rPr lang="fr-CA" sz="2000" b="1" noProof="0"/>
              <a:t>Git Truck</a:t>
            </a:r>
          </a:p>
        </p:txBody>
      </p:sp>
    </p:spTree>
    <p:extLst>
      <p:ext uri="{BB962C8B-B14F-4D97-AF65-F5344CB8AC3E}">
        <p14:creationId xmlns:p14="http://schemas.microsoft.com/office/powerpoint/2010/main" val="360134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6F37D-CC98-4DAF-A19C-67B61353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E8BD-D02D-B427-524E-EB7367A9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Git Truck</a:t>
            </a:r>
            <a:endParaRPr lang="fr-CA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3225C-D9C1-69F3-C8AF-7B26E55A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 charset="2"/>
              <a:buChar char="•"/>
            </a:pPr>
            <a:r>
              <a:rPr lang="fr-CA" sz="2000"/>
              <a:t>Logiciel gratuit (Freeware)</a:t>
            </a:r>
            <a:endParaRPr lang="en-US"/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/>
              <a:t>Fait en </a:t>
            </a:r>
            <a:r>
              <a:rPr lang="fr-CA" sz="2000" err="1"/>
              <a:t>React</a:t>
            </a:r>
            <a:r>
              <a:rPr lang="fr-CA" sz="2000"/>
              <a:t> (</a:t>
            </a:r>
            <a:r>
              <a:rPr lang="fr-CA" sz="2000" err="1"/>
              <a:t>Typescript</a:t>
            </a:r>
            <a:r>
              <a:rPr lang="fr-CA" sz="2000"/>
              <a:t>)</a:t>
            </a:r>
          </a:p>
          <a:p>
            <a:pPr>
              <a:buFont typeface="Arial" charset="2"/>
              <a:buChar char="•"/>
            </a:pPr>
            <a:endParaRPr lang="fr-CA" sz="2000"/>
          </a:p>
          <a:p>
            <a:pPr>
              <a:buFont typeface="Arial" charset="2"/>
              <a:buChar char="•"/>
            </a:pPr>
            <a:r>
              <a:rPr lang="fr-CA" sz="2000"/>
              <a:t>Outil permettant la visualisation de dépôts Git (Git Repositories)</a:t>
            </a:r>
            <a:endParaRPr lang="fr-CA" sz="2000" noProof="0"/>
          </a:p>
          <a:p>
            <a:pPr lvl="1">
              <a:buFont typeface="Courier New" charset="2"/>
              <a:buChar char="o"/>
            </a:pPr>
            <a:r>
              <a:rPr lang="fr-CA" sz="1800"/>
              <a:t>Répartition des fichiers et leurs types</a:t>
            </a:r>
            <a:endParaRPr lang="fr-CA" sz="1800" noProof="0"/>
          </a:p>
          <a:p>
            <a:pPr lvl="1">
              <a:buFont typeface="Courier New" charset="2"/>
              <a:buChar char="o"/>
            </a:pPr>
            <a:r>
              <a:rPr lang="fr-CA" sz="1800"/>
              <a:t>Nombre de commit par fichier</a:t>
            </a:r>
          </a:p>
          <a:p>
            <a:pPr lvl="1">
              <a:buFont typeface="Courier New" charset="2"/>
              <a:buChar char="o"/>
            </a:pPr>
            <a:r>
              <a:rPr lang="fr-CA" sz="1800"/>
              <a:t>Auteurs associés à chaque fichier</a:t>
            </a:r>
          </a:p>
          <a:p>
            <a:pPr lvl="1">
              <a:buFont typeface="Courier New" charset="2"/>
              <a:buChar char="o"/>
            </a:pPr>
            <a:r>
              <a:rPr lang="fr-CA" sz="1800"/>
              <a:t>Etc.</a:t>
            </a:r>
          </a:p>
          <a:p>
            <a:pPr lvl="1">
              <a:buFont typeface="Courier New" charset="2"/>
              <a:buChar char="o"/>
            </a:pPr>
            <a:endParaRPr lang="fr-CA" sz="1800"/>
          </a:p>
          <a:p>
            <a:pPr>
              <a:buFont typeface="Arial" charset="2"/>
              <a:buChar char="•"/>
            </a:pPr>
            <a:r>
              <a:rPr lang="fr-CA" sz="2000" b="1"/>
              <a:t>Version améliorée par équipe précédente de PFE.</a:t>
            </a:r>
            <a:endParaRPr lang="fr-CA" sz="2000" b="1" noProof="0"/>
          </a:p>
        </p:txBody>
      </p:sp>
      <p:pic>
        <p:nvPicPr>
          <p:cNvPr id="5" name="Picture 4" descr="Owner avatar">
            <a:extLst>
              <a:ext uri="{FF2B5EF4-FFF2-40B4-BE49-F238E27FC236}">
                <a16:creationId xmlns:a16="http://schemas.microsoft.com/office/drawing/2014/main" id="{8124B2B5-6FE4-D6F1-A96F-77750080A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138" y="376238"/>
            <a:ext cx="11049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2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FA38-8E38-B047-AE58-61B263DE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0576073B-3753-6B60-0C2C-AC89BB64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4B8F969F-BD41-E1F4-A6D2-245200DD7BD4}"/>
              </a:ext>
            </a:extLst>
          </p:cNvPr>
          <p:cNvSpPr/>
          <p:nvPr/>
        </p:nvSpPr>
        <p:spPr>
          <a:xfrm rot="1631255">
            <a:off x="3422210" y="1013988"/>
            <a:ext cx="905346" cy="6790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233FBF89-D037-CA91-96CF-FE895C2B2DCD}"/>
              </a:ext>
            </a:extLst>
          </p:cNvPr>
          <p:cNvSpPr/>
          <p:nvPr/>
        </p:nvSpPr>
        <p:spPr>
          <a:xfrm rot="3995375">
            <a:off x="3669652" y="5440769"/>
            <a:ext cx="905346" cy="6790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84F4F7FA-BAA4-E553-3020-FED2B10D07FD}"/>
              </a:ext>
            </a:extLst>
          </p:cNvPr>
          <p:cNvSpPr/>
          <p:nvPr/>
        </p:nvSpPr>
        <p:spPr>
          <a:xfrm rot="10800000">
            <a:off x="2154278" y="1921699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D4D793E7-F632-68FB-2248-2A26798628EF}"/>
              </a:ext>
            </a:extLst>
          </p:cNvPr>
          <p:cNvSpPr/>
          <p:nvPr/>
        </p:nvSpPr>
        <p:spPr>
          <a:xfrm rot="10800000">
            <a:off x="2154279" y="2546209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4B884C8-15DF-4873-DD1B-6CF19CB4DE39}"/>
              </a:ext>
            </a:extLst>
          </p:cNvPr>
          <p:cNvSpPr/>
          <p:nvPr/>
        </p:nvSpPr>
        <p:spPr>
          <a:xfrm rot="10800000">
            <a:off x="2154279" y="1314828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1923ECCE-9A7A-C7F2-2127-E3A964A1C4DC}"/>
              </a:ext>
            </a:extLst>
          </p:cNvPr>
          <p:cNvSpPr/>
          <p:nvPr/>
        </p:nvSpPr>
        <p:spPr>
          <a:xfrm rot="10800000">
            <a:off x="2154279" y="3170702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F0F812BD-6FEC-47F0-1ABA-63F7D8ADF691}"/>
              </a:ext>
            </a:extLst>
          </p:cNvPr>
          <p:cNvSpPr/>
          <p:nvPr/>
        </p:nvSpPr>
        <p:spPr>
          <a:xfrm rot="10800000">
            <a:off x="2154277" y="4128795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EDEAC4-DB5D-2F82-D451-4B106959932C}"/>
              </a:ext>
            </a:extLst>
          </p:cNvPr>
          <p:cNvSpPr/>
          <p:nvPr/>
        </p:nvSpPr>
        <p:spPr>
          <a:xfrm>
            <a:off x="2574227" y="4010646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B45D05-0865-33B5-AA77-91DF7652939D}"/>
              </a:ext>
            </a:extLst>
          </p:cNvPr>
          <p:cNvSpPr/>
          <p:nvPr/>
        </p:nvSpPr>
        <p:spPr>
          <a:xfrm>
            <a:off x="2574227" y="3052552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EA3624-48A3-4FE3-E9C9-DF10BD8645BE}"/>
              </a:ext>
            </a:extLst>
          </p:cNvPr>
          <p:cNvSpPr/>
          <p:nvPr/>
        </p:nvSpPr>
        <p:spPr>
          <a:xfrm>
            <a:off x="2584957" y="2431622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B3CE1D-E25B-22DD-383A-379E6E03D1B0}"/>
              </a:ext>
            </a:extLst>
          </p:cNvPr>
          <p:cNvSpPr/>
          <p:nvPr/>
        </p:nvSpPr>
        <p:spPr>
          <a:xfrm>
            <a:off x="2592333" y="1802127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96A6C7-4E9A-4F7D-B4B8-41A46E082871}"/>
              </a:ext>
            </a:extLst>
          </p:cNvPr>
          <p:cNvSpPr/>
          <p:nvPr/>
        </p:nvSpPr>
        <p:spPr>
          <a:xfrm>
            <a:off x="2592333" y="1196678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2A5561-35D5-CE34-F7F4-0F0AECC552A9}"/>
              </a:ext>
            </a:extLst>
          </p:cNvPr>
          <p:cNvSpPr/>
          <p:nvPr/>
        </p:nvSpPr>
        <p:spPr>
          <a:xfrm>
            <a:off x="3630913" y="4805842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9F2C61-BE18-B4BF-D1E6-529AFF46BDB9}"/>
              </a:ext>
            </a:extLst>
          </p:cNvPr>
          <p:cNvSpPr/>
          <p:nvPr/>
        </p:nvSpPr>
        <p:spPr>
          <a:xfrm>
            <a:off x="3000716" y="687482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</a:t>
            </a:r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1C194A23-3C1E-1B48-00CA-DD28B0CC1C96}"/>
              </a:ext>
            </a:extLst>
          </p:cNvPr>
          <p:cNvSpPr/>
          <p:nvPr/>
        </p:nvSpPr>
        <p:spPr>
          <a:xfrm rot="9092981">
            <a:off x="8220737" y="2899479"/>
            <a:ext cx="714221" cy="3021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61304D8B-D625-372D-1007-90BFC0BB4A36}"/>
              </a:ext>
            </a:extLst>
          </p:cNvPr>
          <p:cNvSpPr/>
          <p:nvPr/>
        </p:nvSpPr>
        <p:spPr>
          <a:xfrm rot="20007551">
            <a:off x="9249932" y="2377613"/>
            <a:ext cx="714221" cy="3021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EA5CA5-CA71-CE10-258A-9D7E51301DE2}"/>
              </a:ext>
            </a:extLst>
          </p:cNvPr>
          <p:cNvSpPr/>
          <p:nvPr/>
        </p:nvSpPr>
        <p:spPr>
          <a:xfrm>
            <a:off x="8891426" y="2465777"/>
            <a:ext cx="4010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CA" sz="3200" b="0" cap="none" spc="0" noProof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68387C3-40FE-2210-73D3-11403223B8D1}"/>
              </a:ext>
            </a:extLst>
          </p:cNvPr>
          <p:cNvSpPr/>
          <p:nvPr/>
        </p:nvSpPr>
        <p:spPr>
          <a:xfrm>
            <a:off x="81481" y="1394234"/>
            <a:ext cx="742384" cy="2690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4264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167F-D867-20BB-F6F0-5F2CA8A1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D6713-7F25-74A4-7299-5BE3A0C0A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D18FF0-575B-0E6F-1BBB-E24AB9565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D7E590C-6263-E648-7169-2882A99F52B1}"/>
              </a:ext>
            </a:extLst>
          </p:cNvPr>
          <p:cNvSpPr/>
          <p:nvPr/>
        </p:nvSpPr>
        <p:spPr>
          <a:xfrm>
            <a:off x="677334" y="1394235"/>
            <a:ext cx="653525" cy="2690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B18D5C0B-B145-27A1-4666-418FB36F8AE2}"/>
              </a:ext>
            </a:extLst>
          </p:cNvPr>
          <p:cNvSpPr/>
          <p:nvPr/>
        </p:nvSpPr>
        <p:spPr>
          <a:xfrm rot="13158688">
            <a:off x="1257985" y="1626150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206500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DABC-4EAA-9CEC-EBD9-F9C46BCA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75C9-028E-9C84-F966-98255E452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D60F5D2-0E22-6222-5DD7-EC867C0E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126B9079-0009-6E9F-B8AE-D51FACCF0F6D}"/>
              </a:ext>
            </a:extLst>
          </p:cNvPr>
          <p:cNvSpPr/>
          <p:nvPr/>
        </p:nvSpPr>
        <p:spPr>
          <a:xfrm>
            <a:off x="1180836" y="1394235"/>
            <a:ext cx="796705" cy="2690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1D3013EE-3474-DD28-AFFE-EB51ABE65AFA}"/>
              </a:ext>
            </a:extLst>
          </p:cNvPr>
          <p:cNvSpPr/>
          <p:nvPr/>
        </p:nvSpPr>
        <p:spPr>
          <a:xfrm rot="13158688">
            <a:off x="1864566" y="1626150"/>
            <a:ext cx="430680" cy="3484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13968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9ECB-A30A-116B-8662-26CEE14C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9372-F0DB-FF87-5F40-68323A34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Git Truck actuel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700C9-D539-E58A-1FE0-6D454AF6F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sz="2000" noProof="0"/>
              <a:t>Cependant, le Git Truck actuel pourrait être amélioré:</a:t>
            </a:r>
            <a:endParaRPr lang="fr-CA" noProof="0"/>
          </a:p>
          <a:p>
            <a:pPr lvl="1">
              <a:buFont typeface="Arial" charset="2"/>
              <a:buChar char="•"/>
            </a:pPr>
            <a:r>
              <a:rPr lang="fr-CA" sz="2000" noProof="0"/>
              <a:t>Peu de dimensions temporelles (limité à des "snapshots")</a:t>
            </a:r>
          </a:p>
          <a:p>
            <a:pPr lvl="1">
              <a:buFont typeface="Arial" charset="2"/>
              <a:buChar char="•"/>
            </a:pPr>
            <a:r>
              <a:rPr lang="fr-CA" sz="2000" noProof="0"/>
              <a:t>Données recueillies mais manque d'analyse</a:t>
            </a:r>
          </a:p>
          <a:p>
            <a:pPr lvl="1">
              <a:buFont typeface="Arial" charset="2"/>
              <a:buChar char="•"/>
            </a:pPr>
            <a:r>
              <a:rPr lang="fr-CA" sz="2000" noProof="0"/>
              <a:t>Polissage de fonctionnalités de l'équipe précédente</a:t>
            </a:r>
          </a:p>
          <a:p>
            <a:pPr lvl="2">
              <a:buFont typeface="Arial" charset="2"/>
              <a:buChar char="•"/>
            </a:pPr>
            <a:r>
              <a:rPr lang="fr-CA" sz="1800" noProof="0"/>
              <a:t>Limitation de l’analyse possible avec le </a:t>
            </a:r>
            <a:r>
              <a:rPr lang="fr-CA" sz="1800" noProof="0" err="1"/>
              <a:t>Author</a:t>
            </a:r>
            <a:r>
              <a:rPr lang="fr-CA" sz="1800" noProof="0"/>
              <a:t> Graph actuel</a:t>
            </a:r>
          </a:p>
          <a:p>
            <a:pPr lvl="2">
              <a:buFont typeface="Arial" charset="2"/>
              <a:buChar char="•"/>
            </a:pPr>
            <a:r>
              <a:rPr lang="fr-CA" sz="1800" noProof="0"/>
              <a:t>Tests inconsistants et manque de couverture</a:t>
            </a:r>
          </a:p>
        </p:txBody>
      </p:sp>
      <p:pic>
        <p:nvPicPr>
          <p:cNvPr id="4" name="Picture 3" descr="Owner avatar">
            <a:extLst>
              <a:ext uri="{FF2B5EF4-FFF2-40B4-BE49-F238E27FC236}">
                <a16:creationId xmlns:a16="http://schemas.microsoft.com/office/drawing/2014/main" id="{1EE14DDE-66FE-FAC2-22D8-DF3A9B969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138" y="376238"/>
            <a:ext cx="1104900" cy="10858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E616F04-4771-CFB8-A2A1-27FB0A65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172" y="2307054"/>
            <a:ext cx="3811571" cy="273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34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06FA-16AA-31C5-D65A-58671E80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B9D4-F4FA-6D50-CEC8-9EF1CC53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Objectifs du projet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5DEA4-0229-5BD2-A644-0B3C6D073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sz="2000" noProof="0"/>
              <a:t>Mieux exploiter et manipuler les données existantes</a:t>
            </a:r>
            <a:endParaRPr lang="fr-CA" noProof="0"/>
          </a:p>
          <a:p>
            <a:pPr lvl="1">
              <a:buFont typeface="Arial" charset="2"/>
              <a:buChar char="•"/>
            </a:pPr>
            <a:r>
              <a:rPr lang="fr-CA" sz="1800" noProof="0"/>
              <a:t>Ajout de </a:t>
            </a:r>
            <a:r>
              <a:rPr lang="fr-CA" sz="1800" b="1" noProof="0"/>
              <a:t>métriques</a:t>
            </a:r>
            <a:r>
              <a:rPr lang="fr-CA" sz="1800" noProof="0"/>
              <a:t>, </a:t>
            </a:r>
            <a:r>
              <a:rPr lang="fr-CA" sz="1800" b="1" noProof="0"/>
              <a:t>carte thermique, regroupement d'auteurs</a:t>
            </a:r>
            <a:r>
              <a:rPr lang="fr-CA" sz="1800" noProof="0"/>
              <a:t>...</a:t>
            </a:r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 noProof="0"/>
              <a:t>Ajouter plus dimensions temporelles à l'analyse</a:t>
            </a:r>
          </a:p>
          <a:p>
            <a:pPr lvl="1">
              <a:buFont typeface="Arial" charset="2"/>
              <a:buChar char="•"/>
            </a:pPr>
            <a:r>
              <a:rPr lang="fr-CA" sz="1800" b="1" noProof="0"/>
              <a:t>Dates </a:t>
            </a:r>
            <a:r>
              <a:rPr lang="fr-CA" sz="1800" noProof="0"/>
              <a:t>et </a:t>
            </a:r>
            <a:r>
              <a:rPr lang="fr-CA" sz="1800" b="1" noProof="0"/>
              <a:t>intervalles </a:t>
            </a:r>
            <a:r>
              <a:rPr lang="fr-CA" sz="1800" noProof="0"/>
              <a:t>sélectionnables</a:t>
            </a:r>
          </a:p>
          <a:p>
            <a:pPr lvl="1">
              <a:buFont typeface="Arial" charset="2"/>
              <a:buChar char="•"/>
            </a:pPr>
            <a:endParaRPr lang="fr-CA" sz="1800" noProof="0"/>
          </a:p>
          <a:p>
            <a:pPr>
              <a:buFont typeface="Arial" charset="2"/>
              <a:buChar char="•"/>
            </a:pPr>
            <a:r>
              <a:rPr lang="fr-CA" sz="2000" noProof="0"/>
              <a:t>Peaufiner l'application actuelle</a:t>
            </a:r>
          </a:p>
          <a:p>
            <a:pPr lvl="1">
              <a:buFont typeface="Arial" charset="2"/>
              <a:buChar char="•"/>
            </a:pPr>
            <a:r>
              <a:rPr lang="fr-CA" sz="1800" noProof="0"/>
              <a:t>Lisibilité d'</a:t>
            </a:r>
            <a:r>
              <a:rPr lang="fr-CA" sz="1800" b="1" noProof="0" err="1"/>
              <a:t>Author</a:t>
            </a:r>
            <a:r>
              <a:rPr lang="fr-CA" sz="1800" b="1" noProof="0"/>
              <a:t> Graph</a:t>
            </a:r>
            <a:r>
              <a:rPr lang="fr-CA" sz="1800" noProof="0"/>
              <a:t>, </a:t>
            </a:r>
            <a:r>
              <a:rPr lang="fr-CA" sz="1800" b="1" noProof="0"/>
              <a:t>Tests</a:t>
            </a:r>
            <a:r>
              <a:rPr lang="fr-CA" sz="1800" noProof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463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E550-1CD5-48E4-08DF-B2E958B5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de la </a:t>
            </a:r>
            <a:r>
              <a:rPr lang="en-US" err="1"/>
              <a:t>présentation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16CC-484A-5254-CAE6-6A8AFCC10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charset="2"/>
              <a:buChar char="-"/>
            </a:pPr>
            <a:r>
              <a:rPr lang="en-US" sz="2000" err="1"/>
              <a:t>Métriques</a:t>
            </a:r>
            <a:r>
              <a:rPr lang="en-US" sz="2000"/>
              <a:t> de santé de </a:t>
            </a:r>
            <a:r>
              <a:rPr lang="en-US" sz="2000" err="1"/>
              <a:t>dépot</a:t>
            </a:r>
          </a:p>
          <a:p>
            <a:pPr>
              <a:buFont typeface="Calibri" charset="2"/>
              <a:buChar char="-"/>
            </a:pPr>
            <a:r>
              <a:rPr lang="en-US" sz="2000"/>
              <a:t>Author Graph et </a:t>
            </a:r>
            <a:r>
              <a:rPr lang="en-US" sz="2000" err="1"/>
              <a:t>communautés</a:t>
            </a:r>
            <a:r>
              <a:rPr lang="en-US" sz="2000"/>
              <a:t> </a:t>
            </a:r>
            <a:r>
              <a:rPr lang="en-US" sz="2000" err="1"/>
              <a:t>d'auteurs</a:t>
            </a:r>
            <a:endParaRPr lang="en-US" sz="2000"/>
          </a:p>
          <a:p>
            <a:pPr>
              <a:buFont typeface="Calibri" charset="2"/>
              <a:buChar char="-"/>
            </a:pPr>
            <a:r>
              <a:rPr lang="en-US" sz="2000"/>
              <a:t>Tests et pipeline</a:t>
            </a:r>
          </a:p>
          <a:p>
            <a:pPr>
              <a:buFont typeface="Calibri" charset="2"/>
              <a:buChar char="-"/>
            </a:pPr>
            <a:r>
              <a:rPr lang="en-US" sz="2000"/>
              <a:t>Carte </a:t>
            </a:r>
            <a:r>
              <a:rPr lang="en-US" sz="2000" err="1"/>
              <a:t>d'activité</a:t>
            </a:r>
            <a:endParaRPr lang="en-US" sz="2000"/>
          </a:p>
          <a:p>
            <a:pPr>
              <a:buFont typeface="Calibri" charset="2"/>
              <a:buChar char="-"/>
            </a:pPr>
            <a:r>
              <a:rPr lang="en-US" sz="2000"/>
              <a:t>Carte </a:t>
            </a:r>
            <a:r>
              <a:rPr lang="en-US" sz="2000" err="1"/>
              <a:t>thermique</a:t>
            </a:r>
            <a:r>
              <a:rPr lang="en-US" sz="2000"/>
              <a:t> (Heatmap)</a:t>
            </a:r>
          </a:p>
          <a:p>
            <a:pPr>
              <a:buFont typeface="Calibri" charset="2"/>
              <a:buChar char="-"/>
            </a:pPr>
            <a:r>
              <a:rPr lang="en-US" sz="2000"/>
              <a:t>Performance</a:t>
            </a:r>
          </a:p>
          <a:p>
            <a:pPr>
              <a:buFont typeface="Calibri" charset="2"/>
              <a:buChar char="-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0345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029F-AB12-E0C3-0004-BFA1FBE77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725" y="2404534"/>
            <a:ext cx="8132278" cy="1646302"/>
          </a:xfrm>
        </p:spPr>
        <p:txBody>
          <a:bodyPr/>
          <a:lstStyle/>
          <a:p>
            <a:pPr algn="ctr"/>
            <a:r>
              <a:rPr lang="fr-CA" noProof="0"/>
              <a:t>Métriques de santé de dépôt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17BB3-C724-7470-E0DA-9CDA795A2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228969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0E546-0674-079A-731A-4A85C277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748D-17F9-E40B-F658-FAB75224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Repository </a:t>
            </a:r>
            <a:r>
              <a:rPr lang="fr-CA" noProof="0" err="1"/>
              <a:t>Health</a:t>
            </a:r>
            <a:r>
              <a:rPr lang="fr-CA" noProof="0"/>
              <a:t> </a:t>
            </a:r>
            <a:r>
              <a:rPr lang="fr-CA" noProof="0" err="1"/>
              <a:t>Metrics</a:t>
            </a:r>
            <a:endParaRPr lang="fr-CA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F2DF3-04DC-A334-10A6-85BE4A760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9274"/>
            <a:ext cx="8596668" cy="4392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sz="2000" noProof="0"/>
              <a:t>Premier ajout du projet</a:t>
            </a:r>
            <a:endParaRPr lang="fr-CA" noProof="0"/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 noProof="0"/>
              <a:t>Utilisation de données déjà présentes</a:t>
            </a:r>
          </a:p>
          <a:p>
            <a:pPr>
              <a:buFont typeface="Arial" charset="2"/>
              <a:buChar char="•"/>
            </a:pPr>
            <a:endParaRPr lang="fr-CA" sz="2000" noProof="0"/>
          </a:p>
          <a:p>
            <a:pPr>
              <a:buFont typeface="Arial" charset="2"/>
              <a:buChar char="•"/>
            </a:pPr>
            <a:r>
              <a:rPr lang="fr-CA" sz="2000" noProof="0"/>
              <a:t>Score total représente la "santé" du Git Repository</a:t>
            </a:r>
          </a:p>
          <a:p>
            <a:pPr lvl="1">
              <a:buFont typeface="Arial" charset="2"/>
              <a:buChar char="•"/>
            </a:pPr>
            <a:r>
              <a:rPr lang="fr-CA" sz="2000" noProof="0"/>
              <a:t>Santé est une valeur </a:t>
            </a:r>
            <a:r>
              <a:rPr lang="fr-CA" sz="2000" b="1" noProof="0"/>
              <a:t>subjective</a:t>
            </a:r>
            <a:r>
              <a:rPr lang="fr-CA" sz="2000" noProof="0"/>
              <a:t>...</a:t>
            </a:r>
            <a:endParaRPr lang="fr-CA" sz="1800" noProof="0"/>
          </a:p>
          <a:p>
            <a:pPr lvl="1">
              <a:buFont typeface="Arial" charset="2"/>
              <a:buChar char="•"/>
            </a:pPr>
            <a:endParaRPr lang="fr-CA" sz="1800" noProof="0"/>
          </a:p>
        </p:txBody>
      </p:sp>
      <p:pic>
        <p:nvPicPr>
          <p:cNvPr id="9" name="Picture 8" descr="A screenshot of a report&#10;&#10;AI-generated content may be incorrect.">
            <a:extLst>
              <a:ext uri="{FF2B5EF4-FFF2-40B4-BE49-F238E27FC236}">
                <a16:creationId xmlns:a16="http://schemas.microsoft.com/office/drawing/2014/main" id="{7AB0AF4D-DF4D-5230-8E62-D9BCB2F4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501" y="2309878"/>
            <a:ext cx="3540168" cy="22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4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7E35-14DF-9C2F-9CCA-852913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DF58-A6D0-7107-1A14-3282C685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Repository </a:t>
            </a:r>
            <a:r>
              <a:rPr lang="fr-CA" noProof="0" err="1"/>
              <a:t>Health</a:t>
            </a:r>
            <a:r>
              <a:rPr lang="fr-CA" noProof="0"/>
              <a:t> </a:t>
            </a:r>
            <a:r>
              <a:rPr lang="fr-CA" noProof="0" err="1"/>
              <a:t>Metrics</a:t>
            </a:r>
            <a:endParaRPr lang="fr-CA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40236-F6CE-8820-EBC3-152968C00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9274"/>
            <a:ext cx="8596668" cy="4392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sz="2000" noProof="0"/>
              <a:t>Santé est composée de trois métriques:</a:t>
            </a:r>
            <a:endParaRPr lang="fr-CA" sz="2000" noProof="0">
              <a:solidFill>
                <a:srgbClr val="000000"/>
              </a:solidFill>
            </a:endParaRPr>
          </a:p>
          <a:p>
            <a:pPr lvl="1" algn="just">
              <a:buFont typeface="Arial" charset="2"/>
              <a:buChar char="•"/>
            </a:pPr>
            <a:r>
              <a:rPr lang="fr-CA" sz="2000" b="1" noProof="0"/>
              <a:t>Bus Factor Risk</a:t>
            </a:r>
            <a:endParaRPr lang="fr-CA" sz="2000" noProof="0">
              <a:solidFill>
                <a:srgbClr val="000000"/>
              </a:solidFill>
            </a:endParaRPr>
          </a:p>
          <a:p>
            <a:pPr lvl="1" algn="just">
              <a:buFont typeface="Arial" charset="2"/>
              <a:buChar char="•"/>
            </a:pPr>
            <a:r>
              <a:rPr lang="fr-CA" sz="2000" b="1" noProof="0" err="1"/>
              <a:t>Ownership</a:t>
            </a:r>
            <a:r>
              <a:rPr lang="fr-CA" sz="2000" b="1" noProof="0"/>
              <a:t> Distribution</a:t>
            </a:r>
            <a:endParaRPr lang="fr-CA" sz="2000" noProof="0">
              <a:solidFill>
                <a:srgbClr val="000000"/>
              </a:solidFill>
            </a:endParaRPr>
          </a:p>
          <a:p>
            <a:pPr lvl="1" algn="just">
              <a:buFont typeface="Arial" charset="2"/>
              <a:buChar char="•"/>
            </a:pPr>
            <a:r>
              <a:rPr lang="fr-CA" sz="2000" b="1" noProof="0"/>
              <a:t>Activity</a:t>
            </a:r>
            <a:endParaRPr lang="fr-CA" noProof="0"/>
          </a:p>
          <a:p>
            <a:pPr lvl="1" algn="just">
              <a:buFont typeface="Arial" charset="2"/>
              <a:buChar char="•"/>
            </a:pPr>
            <a:endParaRPr lang="fr-CA" sz="1800" b="1" noProof="0"/>
          </a:p>
          <a:p>
            <a:pPr marL="514350" algn="just">
              <a:buFont typeface="Arial" charset="2"/>
              <a:buChar char="•"/>
            </a:pPr>
            <a:r>
              <a:rPr lang="fr-CA" sz="2000" noProof="0"/>
              <a:t>Poids de chaque métrique est modifiable</a:t>
            </a:r>
          </a:p>
          <a:p>
            <a:pPr lvl="1" algn="just">
              <a:buFont typeface="Arial" charset="2"/>
              <a:buChar char="•"/>
            </a:pPr>
            <a:r>
              <a:rPr lang="fr-CA" sz="2000" noProof="0"/>
              <a:t> Selon la valeur accordée par l'utilisateur!</a:t>
            </a:r>
          </a:p>
          <a:p>
            <a:pPr lvl="1">
              <a:buFont typeface="Arial" charset="2"/>
              <a:buChar char="•"/>
            </a:pPr>
            <a:endParaRPr lang="fr-CA" sz="1800" noProof="0"/>
          </a:p>
        </p:txBody>
      </p:sp>
      <p:pic>
        <p:nvPicPr>
          <p:cNvPr id="9" name="Picture 8" descr="A screenshot of a report&#10;&#10;AI-generated content may be incorrect.">
            <a:extLst>
              <a:ext uri="{FF2B5EF4-FFF2-40B4-BE49-F238E27FC236}">
                <a16:creationId xmlns:a16="http://schemas.microsoft.com/office/drawing/2014/main" id="{629738CE-F880-D245-D613-4CDF5662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501" y="2309878"/>
            <a:ext cx="3540168" cy="22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3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044F-4781-2B01-9675-D5964DF4F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A341-6289-D72F-D868-0D511D46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Repository </a:t>
            </a:r>
            <a:r>
              <a:rPr lang="fr-CA" noProof="0" err="1"/>
              <a:t>Health</a:t>
            </a:r>
            <a:r>
              <a:rPr lang="fr-CA" noProof="0"/>
              <a:t> </a:t>
            </a:r>
            <a:r>
              <a:rPr lang="fr-CA" noProof="0" err="1"/>
              <a:t>Metrics</a:t>
            </a:r>
            <a:endParaRPr lang="fr-CA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F0D9C-EFEB-BD05-B0A2-372A6DE24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9274"/>
            <a:ext cx="7103984" cy="4392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>
              <a:buAutoNum type="arabicPeriod"/>
            </a:pPr>
            <a:r>
              <a:rPr lang="fr-CA" sz="2000" b="1" noProof="0"/>
              <a:t>Bus Factor Risk:</a:t>
            </a:r>
            <a:endParaRPr lang="fr-CA" sz="2000" noProof="0"/>
          </a:p>
          <a:p>
            <a:pPr marL="857250" lvl="1" indent="-457200">
              <a:buFont typeface="Courier New" charset="2"/>
              <a:buChar char="o"/>
            </a:pPr>
            <a:r>
              <a:rPr lang="fr-CA" sz="1800" noProof="0"/>
              <a:t>Généralement bon d'éviter l'existence de fichiers avec un seul contributeur. Si celui-ci quitte le projet...</a:t>
            </a:r>
          </a:p>
          <a:p>
            <a:pPr marL="857250" lvl="1" indent="-457200">
              <a:buFont typeface="Courier New" charset="2"/>
              <a:buChar char="o"/>
            </a:pPr>
            <a:r>
              <a:rPr lang="fr-CA" sz="1800" noProof="0"/>
              <a:t>Score augmente si moins de fichiers avec 1 contributeur.</a:t>
            </a:r>
          </a:p>
          <a:p>
            <a:pPr indent="-285750">
              <a:buAutoNum type="arabicPeriod"/>
            </a:pPr>
            <a:endParaRPr lang="fr-CA" sz="2000" noProof="0"/>
          </a:p>
          <a:p>
            <a:pPr indent="-285750">
              <a:buAutoNum type="arabicPeriod"/>
            </a:pPr>
            <a:r>
              <a:rPr lang="fr-CA" sz="2000" b="1" noProof="0"/>
              <a:t> </a:t>
            </a:r>
            <a:r>
              <a:rPr lang="fr-CA" sz="2000" b="1" noProof="0" err="1"/>
              <a:t>Ownership</a:t>
            </a:r>
            <a:r>
              <a:rPr lang="fr-CA" sz="2000" b="1" noProof="0"/>
              <a:t> Distribution:</a:t>
            </a:r>
          </a:p>
          <a:p>
            <a:pPr lvl="1">
              <a:buFont typeface="Courier New" charset="2"/>
              <a:buChar char="o"/>
            </a:pPr>
            <a:r>
              <a:rPr lang="fr-CA" sz="1800" noProof="0"/>
              <a:t>Généralement bon d'éviter l'</a:t>
            </a:r>
            <a:r>
              <a:rPr lang="fr-CA" sz="1800" noProof="0" err="1"/>
              <a:t>inéqualité</a:t>
            </a:r>
            <a:r>
              <a:rPr lang="fr-CA" sz="1800" noProof="0"/>
              <a:t> des contributions.</a:t>
            </a:r>
          </a:p>
          <a:p>
            <a:pPr lvl="1">
              <a:buFont typeface="Courier New" charset="2"/>
              <a:buChar char="o"/>
            </a:pPr>
            <a:r>
              <a:rPr lang="fr-CA" sz="1800" noProof="0"/>
              <a:t>Éviter dépendance à un petit groupe d'auteurs.</a:t>
            </a: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D99E88C-7C5D-E281-1FD7-7B0374AB6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02" y="2556484"/>
            <a:ext cx="4110102" cy="106653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74B844C-5C6E-4F01-46FF-C21EEE26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615" y="4537311"/>
            <a:ext cx="4108276" cy="118266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4160392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08BE-31A0-1BE3-66DF-C299B689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66D2-6E48-4E75-F7EA-5D3F17D0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Repository </a:t>
            </a:r>
            <a:r>
              <a:rPr lang="fr-CA" noProof="0" err="1"/>
              <a:t>Health</a:t>
            </a:r>
            <a:r>
              <a:rPr lang="fr-CA" noProof="0"/>
              <a:t> </a:t>
            </a:r>
            <a:r>
              <a:rPr lang="fr-CA" noProof="0" err="1"/>
              <a:t>Metrics</a:t>
            </a:r>
            <a:endParaRPr lang="fr-CA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83831-ED62-7F98-D9DB-F615B2E0B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9274"/>
            <a:ext cx="7103984" cy="1725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457200">
              <a:buAutoNum type="arabicPeriod" startAt="3"/>
            </a:pPr>
            <a:r>
              <a:rPr lang="fr-CA" sz="2000" b="1" noProof="0"/>
              <a:t>Activity (Active </a:t>
            </a:r>
            <a:r>
              <a:rPr lang="fr-CA" sz="2000" b="1" noProof="0" err="1"/>
              <a:t>Contributors</a:t>
            </a:r>
            <a:r>
              <a:rPr lang="fr-CA" sz="2000" b="1" noProof="0"/>
              <a:t>):</a:t>
            </a:r>
            <a:endParaRPr lang="fr-CA" noProof="0"/>
          </a:p>
          <a:p>
            <a:pPr marL="971550" lvl="1">
              <a:buFont typeface="Courier New" charset="2"/>
              <a:buChar char="o"/>
            </a:pPr>
            <a:r>
              <a:rPr lang="fr-CA" sz="2000" noProof="0"/>
              <a:t>Mesure l'activité récente des contributeurs.</a:t>
            </a:r>
            <a:endParaRPr lang="fr-CA" noProof="0"/>
          </a:p>
          <a:p>
            <a:pPr marL="971550" lvl="1">
              <a:buFont typeface="Courier New" charset="2"/>
              <a:buChar char="o"/>
            </a:pPr>
            <a:r>
              <a:rPr lang="fr-CA" sz="2000" noProof="0"/>
              <a:t>Le score augmente selon le nombre de </a:t>
            </a:r>
            <a:r>
              <a:rPr lang="fr-CA" sz="2000" noProof="0" err="1"/>
              <a:t>commits</a:t>
            </a:r>
            <a:r>
              <a:rPr lang="fr-CA" sz="2000" noProof="0"/>
              <a:t> dans les 30 et 90 derniers jours.</a:t>
            </a:r>
            <a:endParaRPr lang="fr-CA" noProof="0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3B53968-B1E3-0A68-C900-32F88BF8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25" y="1933575"/>
            <a:ext cx="4105275" cy="11811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00C61EB-9591-A112-D6A1-5B5C0DAF3335}"/>
              </a:ext>
            </a:extLst>
          </p:cNvPr>
          <p:cNvSpPr txBox="1">
            <a:spLocks/>
          </p:cNvSpPr>
          <p:nvPr/>
        </p:nvSpPr>
        <p:spPr>
          <a:xfrm>
            <a:off x="677334" y="4043799"/>
            <a:ext cx="7103984" cy="21253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457200">
              <a:buFont typeface="Wingdings" panose="05000000000000000000" pitchFamily="2" charset="2"/>
              <a:buChar char="q"/>
            </a:pPr>
            <a:r>
              <a:rPr lang="fr-CA" sz="2000" b="1" noProof="0"/>
              <a:t>Autres métriques:</a:t>
            </a:r>
            <a:endParaRPr lang="fr-CA" noProof="0"/>
          </a:p>
          <a:p>
            <a:pPr marL="971550" lvl="1">
              <a:buFont typeface="Courier New" charset="2"/>
              <a:buChar char="o"/>
            </a:pPr>
            <a:r>
              <a:rPr lang="fr-CA" sz="2000" noProof="0"/>
              <a:t>Ne participent </a:t>
            </a:r>
            <a:r>
              <a:rPr lang="fr-CA" sz="2000" b="1" noProof="0"/>
              <a:t>pas </a:t>
            </a:r>
            <a:r>
              <a:rPr lang="fr-CA" sz="2000" noProof="0"/>
              <a:t>au score de santé.</a:t>
            </a:r>
          </a:p>
          <a:p>
            <a:pPr marL="971550" lvl="1">
              <a:buFont typeface="Courier New" charset="2"/>
              <a:buChar char="o"/>
            </a:pPr>
            <a:r>
              <a:rPr lang="fr-CA" sz="2000" noProof="0"/>
              <a:t>Autres informations potentiellement importantes.</a:t>
            </a:r>
          </a:p>
          <a:p>
            <a:pPr marL="971550" lvl="1">
              <a:buFont typeface="Courier New" charset="2"/>
              <a:buChar char="o"/>
            </a:pPr>
            <a:r>
              <a:rPr lang="fr-CA" sz="2000" noProof="0"/>
              <a:t>Ex: Activité récente, fichiers hotspot, fichiers “</a:t>
            </a:r>
            <a:r>
              <a:rPr lang="fr-CA" sz="2000" noProof="0" err="1"/>
              <a:t>stale</a:t>
            </a:r>
            <a:r>
              <a:rPr lang="fr-CA" sz="2000" noProof="0"/>
              <a:t>”...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BCB131C-52EB-2A6B-4902-754DAE41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947" y="3431458"/>
            <a:ext cx="2499643" cy="318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82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0FD3-BD43-C029-4AEE-7C7082E2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1A6C-B688-301F-1178-344B9B5233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CA" noProof="0"/>
              <a:t>Communautés d’auteurs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0A02B-CCE0-BD6F-A49E-D6300D382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191419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B46A-D7D4-8B68-70AB-0ACD9304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fr-CA" noProof="0"/>
              <a:t>Avant/Problématique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2C9671-2F8E-C1B5-9D24-8B7B2E462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charset="2"/>
              <a:buChar char="-"/>
            </a:pPr>
            <a:r>
              <a:rPr lang="fr-CA" noProof="0"/>
              <a:t>Impossible de créer des groupes facilement</a:t>
            </a:r>
          </a:p>
          <a:p>
            <a:pPr>
              <a:buFont typeface="Calibri" charset="2"/>
              <a:buChar char="-"/>
            </a:pPr>
            <a:r>
              <a:rPr lang="fr-CA" noProof="0"/>
              <a:t>Difficile à analyser</a:t>
            </a:r>
          </a:p>
          <a:p>
            <a:pPr>
              <a:buFont typeface="Calibri" charset="2"/>
              <a:buChar char="-"/>
            </a:pPr>
            <a:r>
              <a:rPr lang="fr-CA" noProof="0"/>
              <a:t>Liens entre auteur par rapport à la métrique choisie</a:t>
            </a:r>
          </a:p>
        </p:txBody>
      </p:sp>
      <p:pic>
        <p:nvPicPr>
          <p:cNvPr id="7" name="Picture 6" descr="A network diagram of colorful circles and lines&#10;&#10;AI-generated content may be incorrect.">
            <a:extLst>
              <a:ext uri="{FF2B5EF4-FFF2-40B4-BE49-F238E27FC236}">
                <a16:creationId xmlns:a16="http://schemas.microsoft.com/office/drawing/2014/main" id="{F49BFB06-9A56-F166-9876-BE3C5C254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257" y="1668162"/>
            <a:ext cx="6085811" cy="437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78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D9F7DB-0F44-9407-E6DD-CAAD0B063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CA" noProof="0"/>
          </a:p>
          <a:p>
            <a:pPr marL="0" indent="0">
              <a:buNone/>
            </a:pPr>
            <a:endParaRPr lang="fr-CA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B77A8-3E7C-8F4F-4090-98ED8AFE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8" y="442649"/>
            <a:ext cx="11921043" cy="597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00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A34ED0-649B-B335-5581-B683C7D40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116" y="5690205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CA" sz="4800" noProof="0"/>
              <a:t>Après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21A07C7-0E3C-94ED-066F-4BA3E3483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138" y="172479"/>
            <a:ext cx="9367988" cy="575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97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130C-E3BE-72FC-644B-781B6105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Métriques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20DA6-8506-8E0B-F13B-00B775B6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/>
              <a:t>Commit ( Nombre de commit par fichier )</a:t>
            </a:r>
          </a:p>
          <a:p>
            <a:r>
              <a:rPr lang="fr-CA" noProof="0"/>
              <a:t>Line changes ( Nombre de lignes changés par fichier )</a:t>
            </a:r>
          </a:p>
          <a:p>
            <a:r>
              <a:rPr lang="fr-CA" noProof="0"/>
              <a:t>File </a:t>
            </a:r>
            <a:r>
              <a:rPr lang="fr-CA" noProof="0" err="1"/>
              <a:t>shared</a:t>
            </a:r>
            <a:endParaRPr lang="fr-CA" noProof="0"/>
          </a:p>
          <a:p>
            <a:r>
              <a:rPr lang="fr-CA" noProof="0"/>
              <a:t>Cohésion</a:t>
            </a:r>
          </a:p>
        </p:txBody>
      </p:sp>
    </p:spTree>
    <p:extLst>
      <p:ext uri="{BB962C8B-B14F-4D97-AF65-F5344CB8AC3E}">
        <p14:creationId xmlns:p14="http://schemas.microsoft.com/office/powerpoint/2010/main" val="2427595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4EA2-2762-DAB8-B0AA-D5E1F58E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Cohésion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AF07-D92A-6CAC-67EA-434789308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/>
              <a:t>Calcul:</a:t>
            </a:r>
            <a:br>
              <a:rPr lang="fr-CA" noProof="0"/>
            </a:br>
            <a:endParaRPr lang="fr-CA" sz="1100" noProof="0">
              <a:solidFill>
                <a:srgbClr val="4FC1FF"/>
              </a:solidFill>
              <a:latin typeface="Consolas"/>
            </a:endParaRPr>
          </a:p>
        </p:txBody>
      </p:sp>
      <p:pic>
        <p:nvPicPr>
          <p:cNvPr id="4" name="Picture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A1755091-715C-DCF1-69B3-C83C4F97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43" y="2660766"/>
            <a:ext cx="8703992" cy="250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99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28E8-705F-55AF-9384-68FA557F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fr-CA" noProof="0"/>
              <a:t>Embûches</a:t>
            </a:r>
          </a:p>
        </p:txBody>
      </p:sp>
      <p:pic>
        <p:nvPicPr>
          <p:cNvPr id="18" name="Graphic 17" descr="Minimize">
            <a:extLst>
              <a:ext uri="{FF2B5EF4-FFF2-40B4-BE49-F238E27FC236}">
                <a16:creationId xmlns:a16="http://schemas.microsoft.com/office/drawing/2014/main" id="{287F78E6-A3E0-DC30-03FB-758DA46D4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177" y="1925925"/>
            <a:ext cx="2229487" cy="21951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B6277-BC87-24D7-3E16-AA451C9EE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4674" y="1927184"/>
            <a:ext cx="5207839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Calibri" charset="2"/>
              <a:buChar char="-"/>
            </a:pPr>
            <a:r>
              <a:rPr lang="fr-CA" noProof="0"/>
              <a:t>Relation entre plusieurs auteurs ( A-&gt;B B-&gt;C, A-&gt;C ?)</a:t>
            </a:r>
          </a:p>
          <a:p>
            <a:pPr>
              <a:buFont typeface="Calibri" charset="2"/>
              <a:buChar char="-"/>
            </a:pPr>
            <a:r>
              <a:rPr lang="fr-CA" noProof="0"/>
              <a:t>Implémentation d'algorithme à partir de Zéro</a:t>
            </a:r>
          </a:p>
          <a:p>
            <a:pPr>
              <a:buFont typeface="Calibri" charset="2"/>
              <a:buChar char="-"/>
            </a:pPr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583796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310F-747B-9461-30D4-26942760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613048" cy="664902"/>
          </a:xfrm>
        </p:spPr>
        <p:txBody>
          <a:bodyPr/>
          <a:lstStyle/>
          <a:p>
            <a:r>
              <a:rPr lang="fr-CA" noProof="0"/>
              <a:t>Louvain</a:t>
            </a:r>
          </a:p>
        </p:txBody>
      </p:sp>
      <p:pic>
        <p:nvPicPr>
          <p:cNvPr id="4" name="Content Placeholder 3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0309D790-5D52-6A6E-8144-B6B948399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269" y="1273197"/>
            <a:ext cx="4609534" cy="4816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F7064-46B0-0B8E-A430-27BA4AA6E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556" y="1955620"/>
            <a:ext cx="6327494" cy="29564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0D7DA7B-0AD3-5271-2592-E7D62335D12F}"/>
              </a:ext>
            </a:extLst>
          </p:cNvPr>
          <p:cNvSpPr txBox="1">
            <a:spLocks/>
          </p:cNvSpPr>
          <p:nvPr/>
        </p:nvSpPr>
        <p:spPr>
          <a:xfrm>
            <a:off x="6093550" y="611605"/>
            <a:ext cx="4613048" cy="6649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noProof="0"/>
              <a:t>Girvan Newman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B5812-BD3B-9C72-DECB-DAA53B28BC4C}"/>
              </a:ext>
            </a:extLst>
          </p:cNvPr>
          <p:cNvSpPr txBox="1"/>
          <p:nvPr/>
        </p:nvSpPr>
        <p:spPr>
          <a:xfrm>
            <a:off x="461210" y="6396790"/>
            <a:ext cx="593557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AutoNum type="arabicPeriod"/>
            </a:pPr>
            <a:r>
              <a:rPr lang="fr-CA" sz="800" noProof="0">
                <a:ea typeface="+mn-lt"/>
                <a:cs typeface="+mn-lt"/>
                <a:hlinkClick r:id="rId4"/>
              </a:rPr>
              <a:t>https://www.nature.com/articles/s41598-019-41695-z</a:t>
            </a:r>
            <a:endParaRPr lang="fr-CA" noProof="0">
              <a:ea typeface="+mn-lt"/>
              <a:cs typeface="+mn-lt"/>
            </a:endParaRPr>
          </a:p>
          <a:p>
            <a:pPr marL="228600" indent="-228600">
              <a:buAutoNum type="arabicPeriod"/>
            </a:pPr>
            <a:r>
              <a:rPr lang="fr-CA" sz="800" noProof="0">
                <a:ea typeface="+mn-lt"/>
                <a:cs typeface="+mn-lt"/>
                <a:hlinkClick r:id="rId5"/>
              </a:rPr>
              <a:t>https://memgraph.github.io/networkx-guide/algorithms/community-detection/girvan-newman/</a:t>
            </a:r>
            <a:endParaRPr lang="fr-CA" sz="800" noProof="0">
              <a:ea typeface="+mn-lt"/>
              <a:cs typeface="+mn-lt"/>
            </a:endParaRPr>
          </a:p>
          <a:p>
            <a:pPr marL="228600" indent="-228600">
              <a:buAutoNum type="arabicPeriod"/>
            </a:pPr>
            <a:endParaRPr lang="fr-CA" sz="800" noProof="0"/>
          </a:p>
        </p:txBody>
      </p:sp>
    </p:spTree>
    <p:extLst>
      <p:ext uri="{BB962C8B-B14F-4D97-AF65-F5344CB8AC3E}">
        <p14:creationId xmlns:p14="http://schemas.microsoft.com/office/powerpoint/2010/main" val="2788104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B5CAE-BC2F-14BD-07CF-893F3BAF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fr-CA" noProof="0"/>
              <a:t>Algorithmes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 noProof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 noProof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C4E995-5FCC-AD75-834D-44E5019950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417797"/>
              </p:ext>
            </p:extLst>
          </p:nvPr>
        </p:nvGraphicFramePr>
        <p:xfrm>
          <a:off x="1367853" y="196877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309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826D-9C60-451B-F945-F67A57D4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Implémentation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7A2C9-2F8F-498A-23C5-723714473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 err="1">
                <a:ea typeface="+mn-lt"/>
                <a:cs typeface="+mn-lt"/>
              </a:rPr>
              <a:t>Github</a:t>
            </a:r>
            <a:r>
              <a:rPr lang="fr-CA" noProof="0">
                <a:ea typeface="+mn-lt"/>
                <a:cs typeface="+mn-lt"/>
              </a:rPr>
              <a:t> avec implémentation </a:t>
            </a:r>
            <a:r>
              <a:rPr lang="fr-CA" noProof="0" err="1">
                <a:ea typeface="+mn-lt"/>
                <a:cs typeface="+mn-lt"/>
              </a:rPr>
              <a:t>JLouvain</a:t>
            </a:r>
            <a:r>
              <a:rPr lang="fr-CA" noProof="0">
                <a:ea typeface="+mn-lt"/>
                <a:cs typeface="+mn-lt"/>
              </a:rPr>
              <a:t> en JavaScript:</a:t>
            </a:r>
            <a:br>
              <a:rPr lang="fr-CA" noProof="0">
                <a:ea typeface="+mn-lt"/>
                <a:cs typeface="+mn-lt"/>
              </a:rPr>
            </a:br>
            <a:r>
              <a:rPr lang="fr-CA" noProof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https://github.com/upphiminn/jLouvain</a:t>
            </a: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>
                <a:ea typeface="+mn-lt"/>
                <a:cs typeface="+mn-lt"/>
              </a:rPr>
              <a:t>Utilisation d'une classe adapteur.</a:t>
            </a:r>
          </a:p>
          <a:p>
            <a:pPr marL="0" indent="0">
              <a:buFont typeface="Arial" charset="2"/>
              <a:buChar char="•"/>
            </a:pPr>
            <a:endParaRPr lang="fr-CA" noProof="0">
              <a:ea typeface="+mn-lt"/>
              <a:cs typeface="+mn-lt"/>
            </a:endParaRPr>
          </a:p>
        </p:txBody>
      </p:sp>
      <p:pic>
        <p:nvPicPr>
          <p:cNvPr id="4" name="Image 3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52CFB166-6D8D-F6CA-8EE3-FF937A542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417" y="4296530"/>
            <a:ext cx="2133898" cy="581106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E7EF48C-DD1B-171A-6071-0DC111AAD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419" y="3672555"/>
            <a:ext cx="3105583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3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D92F0-1B6F-A9DF-EBFC-9282C05A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Séquence</a:t>
            </a:r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880A9293-8D96-B1C1-A997-E6F332F33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08" y="1269999"/>
            <a:ext cx="8271202" cy="508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53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0EA38-C5CC-1423-E9E6-0FD76380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D33C-F166-30F5-2BC2-278419508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CA" noProof="0"/>
              <a:t>Tests et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F44D8-EFA6-CFC4-40A8-53407DC0E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723057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DC30-5B40-DC10-86B0-FFE77F57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DAB6-338C-4C0F-82FF-64AACC3D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 err="1"/>
              <a:t>Playwright</a:t>
            </a:r>
            <a:endParaRPr lang="fr-CA" noProof="0"/>
          </a:p>
          <a:p>
            <a:pPr>
              <a:buFont typeface="Arial" charset="2"/>
              <a:buChar char="•"/>
            </a:pP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/>
              <a:t>Très peu de couverture de tests</a:t>
            </a:r>
            <a:endParaRPr lang="fr-CA" spc="0" noProof="0">
              <a:solidFill>
                <a:srgbClr val="262626"/>
              </a:solidFill>
            </a:endParaRPr>
          </a:p>
          <a:p>
            <a:pPr lvl="1">
              <a:buFont typeface="Arial" charset="2"/>
              <a:buChar char="•"/>
            </a:pPr>
            <a:r>
              <a:rPr lang="fr-CA" spc="10" noProof="0">
                <a:solidFill>
                  <a:srgbClr val="000000"/>
                </a:solidFill>
                <a:ea typeface="+mn-lt"/>
                <a:cs typeface="+mn-lt"/>
              </a:rPr>
              <a:t>Tests non-déterministe</a:t>
            </a:r>
          </a:p>
          <a:p>
            <a:pPr marL="560070" lvl="1">
              <a:buFont typeface="Arial" charset="2"/>
              <a:buChar char="•"/>
            </a:pPr>
            <a:endParaRPr lang="fr-CA" spc="10" noProof="0">
              <a:solidFill>
                <a:srgbClr val="000000"/>
              </a:solidFill>
            </a:endParaRPr>
          </a:p>
          <a:p>
            <a:pPr>
              <a:buFont typeface="Arial" charset="2"/>
              <a:buChar char="•"/>
            </a:pPr>
            <a:r>
              <a:rPr lang="fr-CA" spc="0" noProof="0">
                <a:solidFill>
                  <a:srgbClr val="262626"/>
                </a:solidFill>
                <a:ea typeface="+mn-lt"/>
                <a:cs typeface="+mn-lt"/>
              </a:rPr>
              <a:t>Coût en Temps</a:t>
            </a:r>
          </a:p>
          <a:p>
            <a:pPr>
              <a:buFont typeface="Arial" charset="2"/>
              <a:buChar char="•"/>
            </a:pPr>
            <a:endParaRPr lang="fr-CA" spc="0" noProof="0">
              <a:solidFill>
                <a:srgbClr val="262626"/>
              </a:solidFill>
              <a:ea typeface="+mn-lt"/>
              <a:cs typeface="+mn-lt"/>
            </a:endParaRPr>
          </a:p>
          <a:p>
            <a:pPr>
              <a:buFont typeface="Arial" charset="2"/>
              <a:buChar char="•"/>
            </a:pPr>
            <a:r>
              <a:rPr lang="fr-CA" spc="0" noProof="0">
                <a:solidFill>
                  <a:srgbClr val="262626"/>
                </a:solidFill>
                <a:ea typeface="+mn-lt"/>
                <a:cs typeface="+mn-lt"/>
              </a:rPr>
              <a:t>Complexité du Pipeline CI/CD</a:t>
            </a:r>
          </a:p>
          <a:p>
            <a:pPr>
              <a:buFont typeface="Arial" charset="2"/>
              <a:buChar char="•"/>
            </a:pPr>
            <a:endParaRPr lang="fr-CA" noProof="0">
              <a:solidFill>
                <a:srgbClr val="404040"/>
              </a:solidFill>
              <a:ea typeface="+mn-lt"/>
              <a:cs typeface="+mn-lt"/>
            </a:endParaRP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E845246-153B-047D-9407-9ECAE901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442" y="168727"/>
            <a:ext cx="5508812" cy="1927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1998B5-8A27-7C28-708F-A348FB0745B5}"/>
              </a:ext>
            </a:extLst>
          </p:cNvPr>
          <p:cNvSpPr txBox="1"/>
          <p:nvPr/>
        </p:nvSpPr>
        <p:spPr>
          <a:xfrm>
            <a:off x="8352118" y="2198843"/>
            <a:ext cx="10010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CA" noProof="0"/>
              <a:t>VS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DBC6F1-9A75-A781-744E-5E2D5BC7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631" y="2668079"/>
            <a:ext cx="2536516" cy="13542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B6FD2A-B450-6D49-40F1-AC8C7E78EFAB}"/>
              </a:ext>
            </a:extLst>
          </p:cNvPr>
          <p:cNvSpPr txBox="1"/>
          <p:nvPr/>
        </p:nvSpPr>
        <p:spPr>
          <a:xfrm>
            <a:off x="8352117" y="4124781"/>
            <a:ext cx="10010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CA" noProof="0"/>
              <a:t>VS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660593-495F-A432-14AF-F537A64ED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901" y="4564933"/>
            <a:ext cx="4358456" cy="22509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1171FA-0955-4F86-B8D3-6A23EE09BD74}"/>
              </a:ext>
            </a:extLst>
          </p:cNvPr>
          <p:cNvSpPr txBox="1"/>
          <p:nvPr/>
        </p:nvSpPr>
        <p:spPr>
          <a:xfrm>
            <a:off x="10580336" y="4315752"/>
            <a:ext cx="61364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CA" sz="3000" noProof="0">
                <a:ea typeface="+mn-lt"/>
                <a:cs typeface="+mn-lt"/>
              </a:rPr>
              <a:t>✨</a:t>
            </a:r>
            <a:endParaRPr lang="fr-CA" sz="3000" noProof="0"/>
          </a:p>
        </p:txBody>
      </p:sp>
    </p:spTree>
    <p:extLst>
      <p:ext uri="{BB962C8B-B14F-4D97-AF65-F5344CB8AC3E}">
        <p14:creationId xmlns:p14="http://schemas.microsoft.com/office/powerpoint/2010/main" val="3050987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7A23-10D8-9008-056D-FDE84ABB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Tests (suite)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0C202-3A97-BDB9-53AF-B23A837EA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Pipeline CI/CD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Déterministe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Intégré dans les règles pour les </a:t>
            </a:r>
            <a:r>
              <a:rPr lang="fr-CA" noProof="0" err="1"/>
              <a:t>PRs</a:t>
            </a:r>
            <a:endParaRPr lang="fr-CA" noProof="0"/>
          </a:p>
          <a:p>
            <a:pPr lvl="1">
              <a:buFont typeface="Courier New" charset="2"/>
              <a:buChar char="o"/>
            </a:pPr>
            <a:r>
              <a:rPr lang="fr-CA" noProof="0" err="1"/>
              <a:t>PRs</a:t>
            </a:r>
            <a:r>
              <a:rPr lang="fr-CA" noProof="0"/>
              <a:t> sont ajoutés au Kanban automatiquement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Merge les </a:t>
            </a:r>
            <a:r>
              <a:rPr lang="fr-CA" noProof="0" err="1"/>
              <a:t>PRs</a:t>
            </a:r>
            <a:r>
              <a:rPr lang="fr-CA" noProof="0"/>
              <a:t> bouge les éléments dans le Kanban</a:t>
            </a:r>
          </a:p>
        </p:txBody>
      </p:sp>
      <p:pic>
        <p:nvPicPr>
          <p:cNvPr id="8" name="Picture 7" descr="A close up of a sign&#10;&#10;AI-generated content may be incorrect.">
            <a:extLst>
              <a:ext uri="{FF2B5EF4-FFF2-40B4-BE49-F238E27FC236}">
                <a16:creationId xmlns:a16="http://schemas.microsoft.com/office/drawing/2014/main" id="{1457F9DF-926B-1D53-646C-5B6DB8B7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283" y="248259"/>
            <a:ext cx="3257550" cy="504825"/>
          </a:xfrm>
          <a:prstGeom prst="rect">
            <a:avLst/>
          </a:prstGeom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7052EFA-2249-7EB5-E4C9-0C366EEBE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222" y="834241"/>
            <a:ext cx="2971800" cy="628650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5FC279D-BF03-79A2-D9ED-47D9B2422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966" y="1545510"/>
            <a:ext cx="2960403" cy="297715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83A8D-BA17-CC66-68B9-10A0921EB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755" y="4538641"/>
            <a:ext cx="7591246" cy="23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1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11BF-9E0A-3263-5F0B-E718FBC3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Tests (suite)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64AA-A703-DB8B-3745-6960C9C16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Suppressions des tests e2e</a:t>
            </a:r>
          </a:p>
          <a:p>
            <a:pPr>
              <a:buFont typeface="Arial" charset="2"/>
              <a:buChar char="•"/>
            </a:pPr>
            <a:r>
              <a:rPr lang="fr-CA" noProof="0">
                <a:ea typeface="+mn-lt"/>
                <a:cs typeface="+mn-lt"/>
              </a:rPr>
              <a:t>Migration vers </a:t>
            </a:r>
            <a:r>
              <a:rPr lang="fr-CA" noProof="0" err="1">
                <a:ea typeface="+mn-lt"/>
                <a:cs typeface="+mn-lt"/>
              </a:rPr>
              <a:t>Jest</a:t>
            </a:r>
            <a:r>
              <a:rPr lang="fr-CA">
                <a:ea typeface="+mn-lt"/>
                <a:cs typeface="+mn-lt"/>
              </a:rPr>
              <a:t> </a:t>
            </a:r>
            <a:r>
              <a:rPr lang="fr-CA" noProof="0">
                <a:ea typeface="+mn-lt"/>
                <a:cs typeface="+mn-lt"/>
              </a:rPr>
              <a:t>pur</a:t>
            </a:r>
          </a:p>
          <a:p>
            <a:pPr>
              <a:buFont typeface="Arial" charset="2"/>
              <a:buChar char="•"/>
            </a:pPr>
            <a:r>
              <a:rPr lang="fr-CA" noProof="0">
                <a:solidFill>
                  <a:srgbClr val="000000"/>
                </a:solidFill>
                <a:ea typeface="+mn-lt"/>
                <a:cs typeface="+mn-lt"/>
              </a:rPr>
              <a:t>Couverture par modules</a:t>
            </a:r>
          </a:p>
          <a:p>
            <a:pPr lvl="1">
              <a:buFont typeface="Arial" pitchFamily="34" charset="0"/>
              <a:buChar char="•"/>
            </a:pPr>
            <a:r>
              <a:rPr lang="fr-CA" spc="10" noProof="0">
                <a:solidFill>
                  <a:srgbClr val="000000"/>
                </a:solidFill>
                <a:ea typeface="+mn-lt"/>
                <a:cs typeface="+mn-lt"/>
              </a:rPr>
              <a:t>Tests unitaires</a:t>
            </a:r>
          </a:p>
          <a:p>
            <a:pPr lvl="1">
              <a:buFont typeface="Arial" pitchFamily="34" charset="0"/>
              <a:buChar char="•"/>
            </a:pPr>
            <a:r>
              <a:rPr lang="fr-CA" noProof="0">
                <a:ea typeface="+mn-lt"/>
                <a:cs typeface="+mn-lt"/>
              </a:rPr>
              <a:t>Tests intégrations</a:t>
            </a:r>
          </a:p>
          <a:p>
            <a:pPr marL="274320" lvl="1" indent="0">
              <a:buNone/>
            </a:pPr>
            <a:endParaRPr lang="fr-CA" noProof="0">
              <a:ea typeface="+mn-lt"/>
              <a:cs typeface="+mn-lt"/>
            </a:endParaRPr>
          </a:p>
          <a:p>
            <a:pPr>
              <a:buFont typeface="Arial,Sans-Serif" charset="2"/>
              <a:buChar char="•"/>
            </a:pPr>
            <a:r>
              <a:rPr lang="fr-CA" noProof="0">
                <a:ea typeface="+mn-lt"/>
                <a:cs typeface="+mn-lt"/>
              </a:rPr>
              <a:t>1 fichier de test -&gt; 6</a:t>
            </a:r>
          </a:p>
          <a:p>
            <a:pPr>
              <a:buFont typeface="Arial,Sans-Serif" charset="2"/>
              <a:buChar char="•"/>
            </a:pPr>
            <a:r>
              <a:rPr lang="fr-CA" noProof="0">
                <a:ea typeface="+mn-lt"/>
                <a:cs typeface="+mn-lt"/>
              </a:rPr>
              <a:t>Couverture totale de ~40%</a:t>
            </a:r>
            <a:endParaRPr lang="fr-CA" noProof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36F49C-10D0-7899-F9E5-654443346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23" y="1540803"/>
            <a:ext cx="7151118" cy="37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30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4E1E-C6E5-4CF3-D6EF-A4B1453E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DC3E-F089-272B-B29B-D07D9D80B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CA" noProof="0"/>
              <a:t>Carte d’activité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6ECE4-CA9D-4F1D-9866-AB1DE5AC87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534130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995C8D-2A8C-461A-DDDA-D2ED8A07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249" y="89671"/>
            <a:ext cx="8759112" cy="6682964"/>
          </a:xfrm>
          <a:prstGeom prst="rect">
            <a:avLst/>
          </a:prstGeom>
        </p:spPr>
      </p:pic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035FD194-D840-E344-31F2-655AA8A24F6C}"/>
              </a:ext>
            </a:extLst>
          </p:cNvPr>
          <p:cNvSpPr/>
          <p:nvPr/>
        </p:nvSpPr>
        <p:spPr>
          <a:xfrm rot="12456819">
            <a:off x="3676454" y="3940403"/>
            <a:ext cx="754145" cy="499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95A4DB6B-4147-F358-A3BC-B426B3116BB3}"/>
              </a:ext>
            </a:extLst>
          </p:cNvPr>
          <p:cNvSpPr/>
          <p:nvPr/>
        </p:nvSpPr>
        <p:spPr>
          <a:xfrm rot="20044115">
            <a:off x="8023784" y="1170494"/>
            <a:ext cx="754145" cy="499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80CD5C5E-F9EC-7DBD-BC56-A46A9747EC07}"/>
              </a:ext>
            </a:extLst>
          </p:cNvPr>
          <p:cNvSpPr/>
          <p:nvPr/>
        </p:nvSpPr>
        <p:spPr>
          <a:xfrm rot="12456819">
            <a:off x="7311492" y="3791146"/>
            <a:ext cx="754145" cy="499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22297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2584-26C0-CF44-7B4E-883046C0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fr-CA" noProof="0"/>
              <a:t>Carte d'activité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10F6-A4B6-BF60-E980-A2783703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4" y="2160589"/>
            <a:ext cx="6696010" cy="35607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charset="2"/>
              <a:buChar char="•"/>
            </a:pPr>
            <a:r>
              <a:rPr lang="fr-CA" noProof="0"/>
              <a:t>Calendrier (à la </a:t>
            </a:r>
            <a:r>
              <a:rPr lang="fr-CA" noProof="0" err="1"/>
              <a:t>github</a:t>
            </a:r>
            <a:r>
              <a:rPr lang="fr-CA" noProof="0"/>
              <a:t>) avec 3 métriques</a:t>
            </a:r>
          </a:p>
          <a:p>
            <a:pPr lvl="1">
              <a:buFont typeface="Courier New" charset="2"/>
              <a:buChar char="o"/>
            </a:pPr>
            <a:r>
              <a:rPr lang="fr-CA" noProof="0" err="1"/>
              <a:t>Commits</a:t>
            </a:r>
            <a:endParaRPr lang="fr-CA" noProof="0"/>
          </a:p>
          <a:p>
            <a:pPr lvl="1">
              <a:buFont typeface="Courier New" charset="2"/>
              <a:buChar char="o"/>
            </a:pPr>
            <a:r>
              <a:rPr lang="fr-CA" noProof="0"/>
              <a:t>Lines </a:t>
            </a:r>
            <a:r>
              <a:rPr lang="fr-CA" noProof="0" err="1"/>
              <a:t>changed</a:t>
            </a:r>
            <a:endParaRPr lang="fr-CA" noProof="0"/>
          </a:p>
          <a:p>
            <a:pPr lvl="1">
              <a:buFont typeface="Courier New" charset="2"/>
              <a:buChar char="o"/>
            </a:pPr>
            <a:r>
              <a:rPr lang="fr-CA" noProof="0"/>
              <a:t>Files </a:t>
            </a:r>
            <a:r>
              <a:rPr lang="fr-CA" noProof="0" err="1"/>
              <a:t>changed</a:t>
            </a:r>
            <a:endParaRPr lang="fr-CA" noProof="0"/>
          </a:p>
          <a:p>
            <a:pPr lvl="1">
              <a:buFont typeface="Courier New" charset="2"/>
              <a:buChar char="o"/>
            </a:pPr>
            <a:r>
              <a:rPr lang="fr-CA" noProof="0"/>
              <a:t>Couleurs selon l'intensité</a:t>
            </a:r>
          </a:p>
          <a:p>
            <a:pPr>
              <a:buFont typeface="Arial" charset="2"/>
              <a:buChar char="•"/>
            </a:pPr>
            <a:r>
              <a:rPr lang="fr-CA" noProof="0"/>
              <a:t>Différence avec </a:t>
            </a:r>
            <a:r>
              <a:rPr lang="fr-CA" noProof="0" err="1"/>
              <a:t>Github</a:t>
            </a:r>
            <a:endParaRPr lang="fr-CA" noProof="0"/>
          </a:p>
          <a:p>
            <a:pPr lvl="1">
              <a:buFont typeface="Courier New" charset="2"/>
              <a:buChar char="o"/>
            </a:pPr>
            <a:r>
              <a:rPr lang="fr-CA" noProof="0"/>
              <a:t>Intégré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Carte (panel) avec détails et stats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Filtrage par auteur</a:t>
            </a:r>
          </a:p>
        </p:txBody>
      </p:sp>
      <p:pic>
        <p:nvPicPr>
          <p:cNvPr id="5" name="Picture 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0830B3FE-0048-AFC0-3D9A-D5307C01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12" y="611217"/>
            <a:ext cx="7338923" cy="133673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92E71A2B-FEE0-54C1-7761-B7B4814C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914" y="2248349"/>
            <a:ext cx="2897038" cy="4517906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FDF3F86-6EFE-622E-D2AD-0C5060A42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110" y="2242688"/>
            <a:ext cx="35147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17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D612-D637-DD3A-91EE-EF30E378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Carte d'activité (suite)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24E6-845D-250B-AB0A-AF76D43D7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Statistiques Globales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Seulement afficher quand tous les auteurs sont activés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Classement des tops contributeurs</a:t>
            </a:r>
          </a:p>
          <a:p>
            <a:pPr lvl="1">
              <a:buFont typeface="Courier New" charset="2"/>
              <a:buChar char="o"/>
            </a:pPr>
            <a:r>
              <a:rPr lang="fr-CA" noProof="0"/>
              <a:t>Top 3 jours de chaque contributeur</a:t>
            </a:r>
          </a:p>
          <a:p>
            <a:pPr lvl="1">
              <a:buFont typeface="Courier New" charset="2"/>
              <a:buChar char="o"/>
            </a:pPr>
            <a:r>
              <a:rPr lang="fr-CA"/>
              <a:t>Jours totaux d'activités, </a:t>
            </a:r>
            <a:r>
              <a:rPr lang="fr-CA" noProof="0" err="1"/>
              <a:t>Commits</a:t>
            </a:r>
            <a:r>
              <a:rPr lang="fr-CA" noProof="0"/>
              <a:t> totaux, lignes changées, fichiers changés, selon la période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DDE0DCB-FEA4-BED0-357C-E0FF89EE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633" y="0"/>
            <a:ext cx="2633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02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4B71-E446-38F7-A5E0-374EF68C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Carte d'activité (suite)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DA3F6D-5F5E-DFA2-04E4-AD5338B47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179" y="1266322"/>
            <a:ext cx="9757642" cy="5591678"/>
          </a:xfrm>
          <a:prstGeom prst="rect">
            <a:avLst/>
          </a:prstGeom>
        </p:spPr>
      </p:pic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52655F50-31A5-5DF1-2600-4819335E4442}"/>
              </a:ext>
            </a:extLst>
          </p:cNvPr>
          <p:cNvSpPr/>
          <p:nvPr/>
        </p:nvSpPr>
        <p:spPr>
          <a:xfrm rot="3590558">
            <a:off x="3601040" y="5835504"/>
            <a:ext cx="791852" cy="3959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A70A3274-2D13-9958-CD3A-F4B3FDDFC8C4}"/>
              </a:ext>
            </a:extLst>
          </p:cNvPr>
          <p:cNvSpPr/>
          <p:nvPr/>
        </p:nvSpPr>
        <p:spPr>
          <a:xfrm rot="12456819">
            <a:off x="2758657" y="4636511"/>
            <a:ext cx="618956" cy="4135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786898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3DE5DB-4C49-B56E-FD50-1C41C421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Carte d'activité (suite)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0D232-A17C-FFB3-BEA4-A9AF5DEF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16689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États modulaires et centralisées pour les sous-composants</a:t>
            </a:r>
          </a:p>
          <a:p>
            <a:pPr>
              <a:buFont typeface="Arial" charset="2"/>
              <a:buChar char="•"/>
            </a:pPr>
            <a:r>
              <a:rPr lang="fr-CA" noProof="0"/>
              <a:t>Calculs partagés (filtres, stats)</a:t>
            </a:r>
          </a:p>
          <a:p>
            <a:pPr>
              <a:buFont typeface="Arial" charset="2"/>
              <a:buChar char="•"/>
            </a:pPr>
            <a:r>
              <a:rPr lang="fr-CA" noProof="0"/>
              <a:t>Évite de recalculer dans chaque composant</a:t>
            </a:r>
          </a:p>
          <a:p>
            <a:pPr>
              <a:buFont typeface="Arial" charset="2"/>
              <a:buChar char="•"/>
            </a:pPr>
            <a:r>
              <a:rPr lang="fr-CA" noProof="0" err="1"/>
              <a:t>Fetch</a:t>
            </a:r>
            <a:r>
              <a:rPr lang="fr-CA" noProof="0">
                <a:ea typeface="+mn-lt"/>
                <a:cs typeface="+mn-lt"/>
              </a:rPr>
              <a:t> conditionnel</a:t>
            </a: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>
                <a:ea typeface="+mn-lt"/>
                <a:cs typeface="+mn-lt"/>
              </a:rPr>
              <a:t>Vue matérialisée</a:t>
            </a:r>
            <a:endParaRPr lang="fr-CA" noProof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662768DD-F58F-74D4-B4B1-17101C9AA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87" y="688259"/>
            <a:ext cx="4863629" cy="55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95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B02B-77E3-7F36-B3EF-E9E4332F9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noProof="0"/>
              <a:t>Carte thermique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EA023-D2AE-D8EC-5C72-BC2F5C956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3683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B7EC1-C78D-E13E-A650-889F50DD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fr-CA" noProof="0"/>
              <a:t>Carte thermique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108634-7528-F393-D083-AA9D0118B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Étendre l’utilisation des valeurs de graphe d’auteurs</a:t>
            </a:r>
          </a:p>
          <a:p>
            <a:pPr>
              <a:buFont typeface="Arial" charset="2"/>
              <a:buChar char="•"/>
            </a:pPr>
            <a:r>
              <a:rPr lang="fr-CA" noProof="0"/>
              <a:t>Comment démontrer clairement la cohésion entre les contributeurs?</a:t>
            </a:r>
          </a:p>
          <a:p>
            <a:pPr>
              <a:buFont typeface="Arial" charset="2"/>
              <a:buChar char="•"/>
            </a:pPr>
            <a:r>
              <a:rPr lang="fr-CA" noProof="0"/>
              <a:t>Solution: une carte thermique de coactivité</a:t>
            </a:r>
          </a:p>
          <a:p>
            <a:pPr>
              <a:buFont typeface="Arial" charset="2"/>
              <a:buChar char="•"/>
            </a:pPr>
            <a:endParaRPr lang="fr-CA" noProof="0"/>
          </a:p>
          <a:p>
            <a:pPr marL="0" indent="0">
              <a:buNone/>
            </a:pPr>
            <a:endParaRPr lang="fr-CA" noProof="0"/>
          </a:p>
        </p:txBody>
      </p:sp>
      <p:pic>
        <p:nvPicPr>
          <p:cNvPr id="7" name="Image 6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DE94A17D-145C-0E63-7BC2-DE3FCAA1F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638" y="523029"/>
            <a:ext cx="6330195" cy="550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7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2D378F-9919-BB3E-2704-582D3DCA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noProof="0"/>
          </a:p>
        </p:txBody>
      </p:sp>
      <p:pic>
        <p:nvPicPr>
          <p:cNvPr id="5" name="Espace réservé du contenu 4" descr="Une image contenant texte, logiciel, capture d’écran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43DA6241-1B45-0F7D-12DE-3D36639E4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61AFF1CF-9AF6-032B-82BA-E0F9F2529005}"/>
              </a:ext>
            </a:extLst>
          </p:cNvPr>
          <p:cNvSpPr/>
          <p:nvPr/>
        </p:nvSpPr>
        <p:spPr>
          <a:xfrm rot="2189847">
            <a:off x="4144494" y="1385740"/>
            <a:ext cx="1162797" cy="623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23EE106E-2144-BAAD-EEE3-4E1DA6FF9043}"/>
              </a:ext>
            </a:extLst>
          </p:cNvPr>
          <p:cNvSpPr/>
          <p:nvPr/>
        </p:nvSpPr>
        <p:spPr>
          <a:xfrm rot="11078209">
            <a:off x="2504232" y="3286973"/>
            <a:ext cx="1162797" cy="623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764CB03B-7E0D-9834-0EEC-1988D807760B}"/>
              </a:ext>
            </a:extLst>
          </p:cNvPr>
          <p:cNvSpPr/>
          <p:nvPr/>
        </p:nvSpPr>
        <p:spPr>
          <a:xfrm rot="7659160">
            <a:off x="1675408" y="5605980"/>
            <a:ext cx="1162797" cy="623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436334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5688AA-AD10-BA5E-7A30-D1C6B046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Données de carte thermique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BA2034-1D3A-5357-44D5-4DD058F31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Carte thermique selon la métrique choisie</a:t>
            </a:r>
          </a:p>
          <a:p>
            <a:pPr>
              <a:buFont typeface="Arial" charset="2"/>
              <a:buChar char="•"/>
            </a:pPr>
            <a:r>
              <a:rPr lang="fr-CA" noProof="0"/>
              <a:t>Filtres et nombre minimal de fichiers </a:t>
            </a:r>
            <a:r>
              <a:rPr lang="fr-CA" noProof="0" err="1"/>
              <a:t>co</a:t>
            </a:r>
            <a:r>
              <a:rPr lang="fr-CA" noProof="0"/>
              <a:t>-modifiés</a:t>
            </a:r>
          </a:p>
          <a:p>
            <a:pPr>
              <a:buFont typeface="Arial" charset="2"/>
              <a:buChar char="•"/>
            </a:pPr>
            <a:r>
              <a:rPr lang="fr-CA" noProof="0"/>
              <a:t>Pair de contributeurs: analyse des métriques totales ou par fichier</a:t>
            </a:r>
          </a:p>
        </p:txBody>
      </p:sp>
      <p:pic>
        <p:nvPicPr>
          <p:cNvPr id="7" name="Image 6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35C3749B-574C-3B59-F7ED-FC2878289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66" y="678064"/>
            <a:ext cx="340090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04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851469-B42C-10FC-64C0-0CA6EAF3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Carte Thermique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27C100-051D-342D-A681-A187CC2CD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Composition similaire à la carte d’activité</a:t>
            </a:r>
          </a:p>
          <a:p>
            <a:pPr>
              <a:buFont typeface="Arial" charset="2"/>
              <a:buChar char="•"/>
            </a:pPr>
            <a:endParaRPr lang="fr-CA" noProof="0"/>
          </a:p>
        </p:txBody>
      </p:sp>
      <p:pic>
        <p:nvPicPr>
          <p:cNvPr id="4" name="Content Placeholder 3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9F3BF820-FCF8-72AE-7721-69507373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164" y="998403"/>
            <a:ext cx="3857289" cy="5249997"/>
          </a:xfrm>
          <a:prstGeom prst="rect">
            <a:avLst/>
          </a:prstGeom>
        </p:spPr>
      </p:pic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810DA50-49E7-C039-A20C-0E01B4619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47" y="2794476"/>
            <a:ext cx="4077269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71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FB9D61-E554-717C-EAA7-8E912C7A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Manipulation des données: </a:t>
            </a:r>
            <a:br>
              <a:rPr lang="fr-CA" noProof="0"/>
            </a:br>
            <a:r>
              <a:rPr lang="fr-CA" noProof="0"/>
              <a:t>Carte thermique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76D8E0-410D-1074-BE59-71B48BAB8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noProof="0"/>
              <a:t>Opérations sur les </a:t>
            </a:r>
            <a:r>
              <a:rPr lang="fr-CA"/>
              <a:t>collaborations</a:t>
            </a:r>
            <a:endParaRPr lang="fr-CA" noProof="0"/>
          </a:p>
          <a:p>
            <a:pPr lvl="1"/>
            <a:r>
              <a:rPr lang="fr-CA" noProof="0"/>
              <a:t>Normalisation des clés (User1 – User2 ET User2 – User1)</a:t>
            </a:r>
          </a:p>
          <a:p>
            <a:pPr lvl="1"/>
            <a:r>
              <a:rPr lang="fr-CA" noProof="0"/>
              <a:t>Filtrage selon un nombre minimal de fichiers modifiés</a:t>
            </a:r>
          </a:p>
          <a:p>
            <a:pPr lvl="1"/>
            <a:r>
              <a:rPr lang="fr-CA" noProof="0"/>
              <a:t>Somme des métriques totaux par auteur</a:t>
            </a:r>
          </a:p>
          <a:p>
            <a:pPr lvl="1"/>
            <a:r>
              <a:rPr lang="fr-CA" noProof="0"/>
              <a:t>Sort et Slice pour obtenir les meilleurs contributeurs</a:t>
            </a:r>
          </a:p>
          <a:p>
            <a:pPr lvl="1"/>
            <a:r>
              <a:rPr lang="fr-CA" noProof="0"/>
              <a:t>Création de la matrice avec les auteurs actifs</a:t>
            </a:r>
          </a:p>
          <a:p>
            <a:pPr lvl="1"/>
            <a:endParaRPr lang="fr-CA" noProof="0"/>
          </a:p>
          <a:p>
            <a:pPr lvl="1"/>
            <a:r>
              <a:rPr lang="fr-CA" noProof="0"/>
              <a:t>Normalisation des données pour afficher avec D3</a:t>
            </a:r>
          </a:p>
          <a:p>
            <a:pPr lvl="1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002130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CCBB-FB79-C590-6414-DA168226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08F07-BFE4-A062-BE19-C76A7E183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Beaucoup de données pour les visualisations</a:t>
            </a:r>
          </a:p>
          <a:p>
            <a:pPr marL="0" indent="0">
              <a:buNone/>
            </a:pP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/>
              <a:t>Graphe d’auteurs: Pour N auteurs et F fichiers en moyenne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O(N^2 * F)</a:t>
            </a:r>
          </a:p>
          <a:p>
            <a:pPr>
              <a:buFont typeface="Arial" charset="2"/>
              <a:buChar char="•"/>
            </a:pPr>
            <a:r>
              <a:rPr lang="fr-CA" noProof="0"/>
              <a:t>Carte thermique: Pour F fichiers modifiés et A auteurs par fichier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O(∑F * A^2)</a:t>
            </a:r>
          </a:p>
          <a:p>
            <a:pPr marL="0" indent="0">
              <a:buNone/>
            </a:pP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/>
              <a:t>Pas de problème pour les autres composantes</a:t>
            </a:r>
          </a:p>
          <a:p>
            <a:pPr marL="0" indent="0">
              <a:buNone/>
            </a:pPr>
            <a:endParaRPr lang="fr-CA" noProof="0">
              <a:solidFill>
                <a:srgbClr val="404040"/>
              </a:solidFill>
            </a:endParaRPr>
          </a:p>
          <a:p>
            <a:pPr>
              <a:buFont typeface="Arial" charset="2"/>
              <a:buChar char="•"/>
            </a:pPr>
            <a:r>
              <a:rPr lang="fr-CA" noProof="0">
                <a:solidFill>
                  <a:srgbClr val="000000"/>
                </a:solidFill>
              </a:rPr>
              <a:t>Mémoïsation, Préchargement</a:t>
            </a:r>
          </a:p>
          <a:p>
            <a:pPr lvl="1">
              <a:buFont typeface="Courier New" pitchFamily="34" charset="0"/>
              <a:buChar char="o"/>
            </a:pPr>
            <a:r>
              <a:rPr lang="fr-CA" spc="10" noProof="0">
                <a:solidFill>
                  <a:srgbClr val="000000"/>
                </a:solidFill>
              </a:rPr>
              <a:t>Filtrages de dizaines de milliers de fichiers par </a:t>
            </a:r>
            <a:r>
              <a:rPr lang="fr-CA" spc="10" noProof="0" err="1">
                <a:solidFill>
                  <a:srgbClr val="000000"/>
                </a:solidFill>
              </a:rPr>
              <a:t>render</a:t>
            </a:r>
            <a:endParaRPr lang="fr-CA" spc="10" noProof="0">
              <a:solidFill>
                <a:srgbClr val="000000"/>
              </a:solidFill>
            </a:endParaRPr>
          </a:p>
        </p:txBody>
      </p:sp>
      <p:pic>
        <p:nvPicPr>
          <p:cNvPr id="7" name="Image 6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F2458D13-68E6-9EBB-4F77-E726FF96A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11" y="5156463"/>
            <a:ext cx="5726205" cy="109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87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17B67237-DF10-64AC-B7ED-41C6AC650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4" y="1249254"/>
            <a:ext cx="5877909" cy="4542760"/>
          </a:xfrm>
          <a:prstGeom prst="rect">
            <a:avLst/>
          </a:prstGeom>
        </p:spPr>
      </p:pic>
      <p:pic>
        <p:nvPicPr>
          <p:cNvPr id="6" name="Image 5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E79A0270-A83B-C6B9-D322-AEDF30ADB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419" y="902968"/>
            <a:ext cx="5422307" cy="523533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2848290-503A-E748-2B4B-99700F8C00F2}"/>
              </a:ext>
            </a:extLst>
          </p:cNvPr>
          <p:cNvSpPr txBox="1"/>
          <p:nvPr/>
        </p:nvSpPr>
        <p:spPr>
          <a:xfrm>
            <a:off x="6096000" y="3185591"/>
            <a:ext cx="47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VS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CEFB7BD7-CCB6-7966-7071-D9256335346A}"/>
              </a:ext>
            </a:extLst>
          </p:cNvPr>
          <p:cNvSpPr/>
          <p:nvPr/>
        </p:nvSpPr>
        <p:spPr>
          <a:xfrm rot="8917072">
            <a:off x="8534844" y="1562493"/>
            <a:ext cx="68580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7CA5A22D-C38E-D7AC-1A41-625CE8869DCD}"/>
              </a:ext>
            </a:extLst>
          </p:cNvPr>
          <p:cNvSpPr/>
          <p:nvPr/>
        </p:nvSpPr>
        <p:spPr>
          <a:xfrm rot="8917072">
            <a:off x="9346501" y="2497318"/>
            <a:ext cx="68580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5B9A1C65-C2E4-496B-CA44-EF1C77534C4E}"/>
              </a:ext>
            </a:extLst>
          </p:cNvPr>
          <p:cNvSpPr/>
          <p:nvPr/>
        </p:nvSpPr>
        <p:spPr>
          <a:xfrm rot="10800000">
            <a:off x="10021695" y="3779549"/>
            <a:ext cx="68580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487F8222-C995-A0D7-C6D2-160D6256B5CC}"/>
              </a:ext>
            </a:extLst>
          </p:cNvPr>
          <p:cNvSpPr/>
          <p:nvPr/>
        </p:nvSpPr>
        <p:spPr>
          <a:xfrm rot="8917072">
            <a:off x="1817960" y="3830919"/>
            <a:ext cx="68580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06532A08-EA82-3BCB-245E-7F40FE7DE38F}"/>
              </a:ext>
            </a:extLst>
          </p:cNvPr>
          <p:cNvSpPr/>
          <p:nvPr/>
        </p:nvSpPr>
        <p:spPr>
          <a:xfrm rot="10800000">
            <a:off x="2203002" y="4583940"/>
            <a:ext cx="685800" cy="434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7052D08-153F-2664-AD46-4160345FAE18}"/>
              </a:ext>
            </a:extLst>
          </p:cNvPr>
          <p:cNvSpPr txBox="1"/>
          <p:nvPr/>
        </p:nvSpPr>
        <p:spPr>
          <a:xfrm>
            <a:off x="8671306" y="6327864"/>
            <a:ext cx="203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O(N^2 * F)</a:t>
            </a:r>
          </a:p>
          <a:p>
            <a:endParaRPr lang="fr-CA" noProof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C3209CC-4ABF-9D93-D43B-188E264EDA8D}"/>
              </a:ext>
            </a:extLst>
          </p:cNvPr>
          <p:cNvSpPr txBox="1"/>
          <p:nvPr/>
        </p:nvSpPr>
        <p:spPr>
          <a:xfrm>
            <a:off x="1695133" y="6327864"/>
            <a:ext cx="2387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CA" noProof="0"/>
              <a:t>O(∑F * A^2)</a:t>
            </a:r>
          </a:p>
          <a:p>
            <a:pPr lvl="1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139714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5C48-92E5-50CA-17EA-430DB786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FF4B0-FEBA-B989-83E7-F28B6567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noProof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C0F23-BB70-C107-47B9-2E087870C1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792994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4BC6B-45D9-5D5A-1BDA-3223BB5B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En résumé: Les ajouts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DB8037-4AFC-D190-5811-452304821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Améliorations des tests et de couverture</a:t>
            </a:r>
          </a:p>
          <a:p>
            <a:pPr>
              <a:buFont typeface="Arial" charset="2"/>
              <a:buChar char="•"/>
            </a:pPr>
            <a:r>
              <a:rPr lang="fr-CA" noProof="0"/>
              <a:t>Certains gains en optimisation</a:t>
            </a:r>
          </a:p>
          <a:p>
            <a:pPr>
              <a:buFont typeface="Arial" charset="2"/>
              <a:buChar char="•"/>
            </a:pPr>
            <a:r>
              <a:rPr lang="fr-CA" noProof="0"/>
              <a:t>Création de communautés pour le graphe d’auteurs</a:t>
            </a:r>
          </a:p>
          <a:p>
            <a:pPr>
              <a:buFont typeface="Arial" charset="2"/>
              <a:buChar char="•"/>
            </a:pPr>
            <a:r>
              <a:rPr lang="fr-CA" noProof="0"/>
              <a:t>Ajout de diagramme d’activité</a:t>
            </a:r>
          </a:p>
          <a:p>
            <a:pPr>
              <a:buFont typeface="Arial" charset="2"/>
              <a:buChar char="•"/>
            </a:pPr>
            <a:r>
              <a:rPr lang="fr-CA" noProof="0"/>
              <a:t>Ajout de carte thermique de coactivité</a:t>
            </a:r>
          </a:p>
          <a:p>
            <a:pPr>
              <a:buFont typeface="Arial" charset="2"/>
              <a:buChar char="•"/>
            </a:pP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/>
              <a:t>Le but: des visualisations utiles dans le contexte de travail en groupe</a:t>
            </a:r>
          </a:p>
          <a:p>
            <a:pPr>
              <a:buFont typeface="Arial" charset="2"/>
              <a:buChar char="•"/>
            </a:pPr>
            <a:r>
              <a:rPr lang="fr-CA" noProof="0"/>
              <a:t>Visualisation épurée, granulaire</a:t>
            </a:r>
          </a:p>
          <a:p>
            <a:pPr>
              <a:buFont typeface="Arial" charset="2"/>
              <a:buChar char="•"/>
            </a:pPr>
            <a:r>
              <a:rPr lang="fr-CA" noProof="0"/>
              <a:t>Complémentarité avec le graphe d’auteurs (et autres)</a:t>
            </a:r>
          </a:p>
          <a:p>
            <a:pPr>
              <a:buFont typeface="Arial" charset="2"/>
              <a:buChar char="•"/>
            </a:pPr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840511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354F7D-DE4A-EAD5-C07F-8729131B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Travaux futurs et améliorations (1)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D3F3F8-991A-B515-202F-958846F6C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Performance: améliorer le temps de computation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Privilégier les appels aux tables </a:t>
            </a:r>
            <a:r>
              <a:rPr lang="fr-CA" noProof="0" err="1"/>
              <a:t>DuckDB</a:t>
            </a:r>
            <a:endParaRPr lang="fr-CA" noProof="0"/>
          </a:p>
          <a:p>
            <a:pPr lvl="1">
              <a:buFont typeface="Arial" charset="2"/>
              <a:buChar char="•"/>
            </a:pPr>
            <a:r>
              <a:rPr lang="fr-CA" noProof="0"/>
              <a:t>Réduire le </a:t>
            </a:r>
            <a:r>
              <a:rPr lang="fr-CA" i="1" noProof="0" err="1"/>
              <a:t>processing</a:t>
            </a:r>
            <a:r>
              <a:rPr lang="fr-CA" noProof="0"/>
              <a:t> en javascript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Réduire les calculs après changement de données (</a:t>
            </a:r>
            <a:r>
              <a:rPr lang="fr-CA" i="1" noProof="0" err="1"/>
              <a:t>refresh</a:t>
            </a:r>
            <a:r>
              <a:rPr lang="fr-CA" noProof="0"/>
              <a:t>) où possible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Utiliser des </a:t>
            </a:r>
            <a:r>
              <a:rPr lang="fr-CA" noProof="0" err="1"/>
              <a:t>workers</a:t>
            </a:r>
            <a:r>
              <a:rPr lang="fr-CA" noProof="0"/>
              <a:t> Node.js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Utiliser des </a:t>
            </a:r>
            <a:r>
              <a:rPr lang="fr-CA" noProof="0" err="1"/>
              <a:t>workers</a:t>
            </a:r>
            <a:r>
              <a:rPr lang="fr-CA" noProof="0"/>
              <a:t> externes (MapReduce)</a:t>
            </a:r>
          </a:p>
          <a:p>
            <a:pPr lvl="1">
              <a:buFont typeface="Arial" charset="2"/>
              <a:buChar char="•"/>
            </a:pPr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4761576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F4626-EDB8-F846-A86A-444AABF6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Travaux futurs et améliorations (2)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A38DEB-BAB7-A97F-6F1C-13DC25AD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fr-CA" noProof="0"/>
              <a:t>Rajouter des métriques de santé</a:t>
            </a:r>
          </a:p>
          <a:p>
            <a:pPr>
              <a:buFont typeface="Arial" charset="2"/>
              <a:buChar char="•"/>
            </a:pPr>
            <a:endParaRPr lang="fr-CA" noProof="0"/>
          </a:p>
          <a:p>
            <a:pPr>
              <a:buFont typeface="Arial" charset="2"/>
              <a:buChar char="•"/>
            </a:pPr>
            <a:r>
              <a:rPr lang="fr-CA" noProof="0"/>
              <a:t>Différents algorithmes de communautés ou variations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Ex: imposer des groupes à nombre fixes (partition de graphe – NP-Complete)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Nombre de groupes et nombre de personnes par groupe (NP-Hard)</a:t>
            </a:r>
          </a:p>
          <a:p>
            <a:pPr lvl="1">
              <a:buFont typeface="Arial" charset="2"/>
              <a:buChar char="•"/>
            </a:pPr>
            <a:r>
              <a:rPr lang="fr-CA" noProof="0"/>
              <a:t>Patron stratégie</a:t>
            </a:r>
          </a:p>
        </p:txBody>
      </p:sp>
    </p:spTree>
    <p:extLst>
      <p:ext uri="{BB962C8B-B14F-4D97-AF65-F5344CB8AC3E}">
        <p14:creationId xmlns:p14="http://schemas.microsoft.com/office/powerpoint/2010/main" val="494718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5CC7-318C-7A1D-5528-F9AA09D7D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177D-2DFF-0547-580E-CCF99D56B3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noProof="0"/>
              <a:t>MERCI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F6696-5931-59F4-D397-F1D50F06FB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7190237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49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Facet</vt:lpstr>
      <vt:lpstr>PFE019 - Visualisation interactive de l’évolution du code des logiciels sur GitHub </vt:lpstr>
      <vt:lpstr>Introduction</vt:lpstr>
      <vt:lpstr>Problématique initiale</vt:lpstr>
      <vt:lpstr>Git Truck</vt:lpstr>
      <vt:lpstr>PowerPoint Presentation</vt:lpstr>
      <vt:lpstr>PowerPoint Presentation</vt:lpstr>
      <vt:lpstr>PowerPoint Presentation</vt:lpstr>
      <vt:lpstr>Git Truck actuel</vt:lpstr>
      <vt:lpstr>Objectifs du projet</vt:lpstr>
      <vt:lpstr>Plan de la présentation</vt:lpstr>
      <vt:lpstr>Métriques de santé de dépôt </vt:lpstr>
      <vt:lpstr>Repository Health Metrics</vt:lpstr>
      <vt:lpstr>Repository Health Metrics</vt:lpstr>
      <vt:lpstr>Repository Health Metrics</vt:lpstr>
      <vt:lpstr>Repository Health Metrics</vt:lpstr>
      <vt:lpstr>Communautés d’auteurs</vt:lpstr>
      <vt:lpstr>Avant/Problématique</vt:lpstr>
      <vt:lpstr>PowerPoint Presentation</vt:lpstr>
      <vt:lpstr>Après</vt:lpstr>
      <vt:lpstr>Métriques</vt:lpstr>
      <vt:lpstr>Cohésion</vt:lpstr>
      <vt:lpstr>Embûches</vt:lpstr>
      <vt:lpstr>Louvain</vt:lpstr>
      <vt:lpstr>Algorithmes</vt:lpstr>
      <vt:lpstr>Implémentation</vt:lpstr>
      <vt:lpstr>Séquence</vt:lpstr>
      <vt:lpstr>Tests et pipeline</vt:lpstr>
      <vt:lpstr>Tests</vt:lpstr>
      <vt:lpstr>Tests (suite)</vt:lpstr>
      <vt:lpstr>Tests (suite)</vt:lpstr>
      <vt:lpstr>Carte d’activité</vt:lpstr>
      <vt:lpstr>PowerPoint Presentation</vt:lpstr>
      <vt:lpstr>Carte d'activité</vt:lpstr>
      <vt:lpstr>Carte d'activité (suite)</vt:lpstr>
      <vt:lpstr>Carte d'activité (suite)</vt:lpstr>
      <vt:lpstr>Carte d'activité (suite)</vt:lpstr>
      <vt:lpstr>Carte thermique</vt:lpstr>
      <vt:lpstr>Carte thermique</vt:lpstr>
      <vt:lpstr>PowerPoint Presentation</vt:lpstr>
      <vt:lpstr>Données de carte thermique</vt:lpstr>
      <vt:lpstr>Carte Thermique</vt:lpstr>
      <vt:lpstr>Manipulation des données:  Carte thermique</vt:lpstr>
      <vt:lpstr>Performance</vt:lpstr>
      <vt:lpstr>PowerPoint Presentation</vt:lpstr>
      <vt:lpstr>Conclusion</vt:lpstr>
      <vt:lpstr>En résumé: Les ajouts</vt:lpstr>
      <vt:lpstr>Travaux futurs et améliorations (1)</vt:lpstr>
      <vt:lpstr>Travaux futurs et améliorations (2)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2025-12-04T14:06:19Z</dcterms:created>
  <dcterms:modified xsi:type="dcterms:W3CDTF">2025-12-15T22:18:34Z</dcterms:modified>
</cp:coreProperties>
</file>